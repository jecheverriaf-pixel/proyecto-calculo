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63aceb67-ca80-29ad-f5ea-eb5582610500}">
          <p14:sldIdLst>
            <p14:sldId id="256"/>
            <p14:sldId id="257"/>
            <p14:sldId id="258"/>
            <p14:sldId id="259"/>
          </p14:sldIdLst>
        </p14:section>
        <p14:section name="Problema principal" id="{15a819a2-899d-9286-8a2c-7ce76edb878d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  <p14:section name="Configuraciones de validación" id="{29ebfe2d-6022-8e57-6e16-4c336aaee499}">
          <p14:sldIdLst>
            <p14:sldId id="269"/>
            <p14:sldId id="270"/>
            <p14:sldId id="271"/>
            <p14:sldId id="272"/>
            <p14:sldId id="273"/>
            <p14:sldId id="274"/>
            <p14:sldId id="275"/>
          </p14:sldIdLst>
        </p14:section>
        <p14:section name="Simulador" id="{f6bc9ce4-5e8e-1f3c-e3c8-413995aa43cf}">
          <p14:sldIdLst>
            <p14:sldId id="276"/>
            <p14:sldId id="277"/>
            <p14:sldId id="278"/>
            <p14:sldId id="279"/>
            <p14:sldId id="280"/>
          </p14:sldIdLst>
        </p14:section>
        <p14:section name="Maqueta y cierre" id="{6c776589-41d7-f21c-097e-afdead5853e0}">
          <p14:sldIdLst>
            <p14:sldId id="281"/>
            <p14:sldId id="28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Saludar y presentar al grupo. Objetivo: calcular volúmenes de sólidos de revolución a mano, comprobarlos con un simulador hecho en Java y mostrar el sólido principal con una maqueta. Vamos a resolver paso a paso el problema principal y las tres configuraciones de validación.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Recorrido de la presentación. Primero los conceptos, luego cada problema resuelto paso a paso, después el simulador y al final la maqueta.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métodos usan la misma idea: partir el sólido en piezas pequeñas, calcular el volumen de cada pieza y sumarlas con una integral. Disco: la región toca el eje, la rebanada es un círculo lleno. Arandela: la región no toca el eje, la rebanada tiene hueco y se restan las áreas π(R² − r²). Capas: franjas verticales que giran alrededor del eje Y; el radio de la capa es x y su altura f − 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procedimiento que repetimos en todos los problemas. Lo importante para la defensa: antes de calcular hay que revisar que el método sea compatible con el eje y que la región cumpla las condiciones de la tabla; el simulador hace exactamente esas mismas revisiones.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Pasamos al ejercicio principal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1, graficar. Siempre empezamos dibujando: la recta y = x + 3 (azul), la parábola y = x² + 1 (roja) y el eje de rotación, el eje X (naranja). La región sombreada es la que gira. Ya en la gráfica se ve que la región no toca el eje X: eso nos dirá que hay un hueco.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Inciso a. Las curvas se cortan donde tienen la misma y, por eso las igualamos. Queda una ecuación cuadrática que se factoriza como (x − 2)(x + 1). Los cortes son x = −1 y x = 2: esos son los límites de integración. Sustituyendo, los puntos son (−1, 2) y (2, 5), y se comprueban también en la parábola. A la derecha está la misma respuesta con la fórmula general.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Inciso b. Probamos varios valores de x dentro del intervalo: en todos la recta da un valor mayor que la parábola, así que la recta es la función superior. Algebraicamente, la diferencia es −(x − 2)(x + 1), que es positiva entre −1 y 2. Como la parábola vale al menos 1, la región está separada del eje X y el sólido tiene un hueco: por eso el método es arandelas y no discos.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Inciso c, primera parte. El radio es la distancia desde el eje de rotación hasta la curva. Como el eje es y = 0, el radio exterior es simplemente la altura de la recta y el radio interior la altura de la parábola. El área de la arandela es el círculo grande menos el círculo del hueco. Ejemplo numérico en x = 0.5 para que se vea que la fórmula funciona.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Inciso c, segunda parte. La integral suma los volúmenes de todas las arandelas entre −1 y 2. Para integrar fácilmente desarrollamos los cuadrados y restamos: queda el polinomio −x⁴ − x² + 6x + 8. El error más común es restar los radios antes de elevar al cuadrado.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Inciso d. Usamos la regla de la potencia en cada término y obtenemos F(x). Evaluamos en 2 y en −1 usando denominador común 15. Ojo con los signos en −1: (−1)⁵ = −1 y (−1)³ = −1, por eso los dos primeros términos quedan positivos. Por el Teorema Fundamental del Cálculo restamos F(2) − F(−1) = 351/15 = 117/5.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Resultado final: V = 117π/5, aproximadamente 73.51 unidades cúbicas. Lo comprobamos de tres formas: el simulador da 73.5133; el teorema de Pappus (2π por la distancia del centroide al eje por el área) da lo mismo; y en la maqueta, a escala 1 u = 2 cm, el volumen equivale a unos 588 cm³.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volumen acumulado muestra cuánto volumen llevamos desde −1 hasta cada x. Empieza en 0 y termina en el volumen total. Por el Teorema Fundamental del Cálculo su derivada es el área de la sección, por eso siempre crece. A la mitad del intervalo solo hay 39 % del volumen porque las arandelas de la derecha son más grandes. La pendiente máxima está en x =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enunciado pide validar el simulador con tres configuraciones. Las resolvimos a mano con el mismo procedimiento.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Configuración 1. La región está entre la raíz de x y el propio eje X, de 0 a 4. Como toca el eje, cada rebanada es un disco lleno de radio √x. Al elevar al cuadrado la raíz desaparece y el área queda πx.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Planteamos π por la integral de f al cuadrado. La raíz al cuadrado es x, cuya antiderivada es x²/2. Evaluando de 0 a 4 da 16/2 = 8, así que V = 8π ≈ 25.13. El simulador da 25.1327.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Configuración 2. Igualamos √x con x²; al elevar al cuadrado queda x = x⁴, que da x = 0 y x = 1. Con un punto de prueba vemos que la raíz va arriba. La región está entre dos curvas y gira alrededor del eje X, por eso es arandela: radio exterior √x, interior x².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Restamos los cuadrados: x − x⁴. Integramos: x²/2 − x⁵/5. En x = 1 da 1/2 − 1/5 = 3/10, en x = 0 da 0. Volumen 3π/10 ≈ 0.9425, igual que el simulador.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Configuración 3. Ahora el eje es el eje Y. Las funciones están en términos de x, así que usamos franjas verticales: al girar alrededor del eje Y cada franja forma un cilindro hueco. Su radio es la distancia al eje Y, que es x; su altura es la diferencia entre la curva de arriba y la de abajo, 2x − x². Si desenrollamos la capa es un rectángulo de largo 2πx, alto h y grosor dx.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Multiplicamos x por la altura: 2x² − x³. Integramos: 2x³/3 − x⁴/4. En x = 2: 16/3 − 4 = 4/3. Por 2π queda 8π/3 ≈ 8.3776, igual que el simulador.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en vivo. El usuario escribe f(x) y g(x), los límites (o los calcula con el botón de intersecciones), elige método y eje. El programa valida, arma la integral con las mismas fórmulas de la resolución manual y calcula el volumen. Luego muestra las gráficas, compara con el valor manual y permite exportar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Demostración sugerida: poner a mayor que b, o elegir capas con el eje X, para mostrar los mensajes. Las condiciones existen porque en discos y arandelas los radios son f y g (deben ser positivos y f el mayor) y en capas el radio es x (a no puede ser negativo).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los cuatro problemas el resultado manual y el del simulador coinciden en todas las cifras que reportamos. Eso confirma que las fórmulas programadas son las mismas de la resolución manual. El programa calcula la diferencia porcentual y dice si hay concordancia.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vivo. En 2D se ve la región que gira; en 3D el sólido completo y su hueco, que es lo que justifica el método de arandelas. El sólido 3D se construye girando el perfil de la región alrededor del eje y formando una malla de triángulos.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botones Exportar CSV y Exportar TXT guardan x, f(x), g(x) y el volumen acumulado. Algunas filas del archivo del problema principal: en x = 2 el volumen acumulado es el volumen total, 73.5133.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primero la maqueta detenida: la región plana entre las curvas, el eje rojo y los banderines de a y b. Luego encender el motor: aparece el sólido y se ve el hueco, que existe porque la región no toca el eje. A escala 1 u = 2 cm las longitudes se multiplican por 2 y el volumen por 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[Ajustar a lo que realmente le pasó al grupo.] Contar cada problema y cómo se resolvió.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resultado manual, el del simulador y la maqueta coinciden. Para la defensa: antes de cambiar algo en el programa hay que decir qué se espera. Por ejemplo, si aumenta b el volumen crece; si g(x) toca el eje desaparece el hueco y se vuelve un problema de discos.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786384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C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14600"/>
            <a:ext cx="108813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rgbClr val="CBD5E1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Cálculo II · Emulador de sólidos de revolución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6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Cálculo II · Emulador de sólidos de revolución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548640"/>
            <a:ext cx="1005840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chemeClr val="accent6"/>
                </a:solidFill>
              </a:rPr>
              <a:t>UNIVERSIDAD MARIANO GÁLVEZ DE GUATEMALA · FACULTAD DE INGENIERÍA · CÁLCULO II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1554480"/>
            <a:ext cx="78638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Emulador de Volúmenes de Sólidos de Revolución</a:t>
            </a:r>
            <a:endParaRPr lang="en-US" sz="4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657600"/>
            <a:ext cx="7863840" cy="640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200" dirty="0">
                <a:solidFill>
                  <a:schemeClr val="accent6"/>
                </a:solidFill>
              </a:rPr>
              <a:t>Métodos del disco, arandelas y capas cilíndricas</a:t>
            </a:r>
            <a:endParaRPr lang="en-US" sz="2200" dirty="0"/>
          </a:p>
        </p:txBody>
      </p:sp>
      <p:sp>
        <p:nvSpPr>
          <p:cNvPr id="5" name="arandela_exterior"/>
          <p:cNvSpPr/>
          <p:nvPr/>
        </p:nvSpPr>
        <p:spPr>
          <a:xfrm>
            <a:off x="8595360" y="1280160"/>
            <a:ext cx="3108960" cy="3108960"/>
          </a:xfrm>
          <a:prstGeom prst="ellipse">
            <a:avLst/>
          </a:prstGeom>
          <a:solidFill>
            <a:srgbClr val="1E3157"/>
          </a:solidFill>
          <a:ln w="38100">
            <a:solidFill>
              <a:schemeClr val="accent6"/>
            </a:solidFill>
            <a:prstDash val="solid"/>
          </a:ln>
        </p:spPr>
      </p:sp>
      <p:sp>
        <p:nvSpPr>
          <p:cNvPr id="6" name="arandela_interior"/>
          <p:cNvSpPr/>
          <p:nvPr/>
        </p:nvSpPr>
        <p:spPr>
          <a:xfrm>
            <a:off x="9555480" y="2240280"/>
            <a:ext cx="1188720" cy="1188720"/>
          </a:xfrm>
          <a:prstGeom prst="ellipse">
            <a:avLst/>
          </a:prstGeom>
          <a:solidFill>
            <a:schemeClr val="tx1"/>
          </a:solidFill>
          <a:ln w="38100">
            <a:solidFill>
              <a:srgbClr val="FB7185"/>
            </a:solidFill>
            <a:prstDash val="solid"/>
          </a:ln>
        </p:spPr>
      </p:sp>
      <p:sp>
        <p:nvSpPr>
          <p:cNvPr id="7" name="eje_decorativo"/>
          <p:cNvSpPr/>
          <p:nvPr/>
        </p:nvSpPr>
        <p:spPr>
          <a:xfrm>
            <a:off x="8138160" y="2834640"/>
            <a:ext cx="402336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dash"/>
          </a:ln>
        </p:spPr>
      </p:sp>
      <p:sp>
        <p:nvSpPr>
          <p:cNvPr id="8" name="texto_1"/>
          <p:cNvSpPr txBox="1"/>
          <p:nvPr/>
        </p:nvSpPr>
        <p:spPr>
          <a:xfrm>
            <a:off x="64008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Integrantes: [Integrante 1] · [Integrante 2] · [Integrante 3]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Docente: Ing. José Alfredo González · Sección [ ] · 25 de octubre de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CONTENIDO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 que vamos a presentar</a:t>
            </a:r>
            <a:endParaRPr lang="en-US" sz="3200" dirty="0"/>
          </a:p>
        </p:txBody>
      </p:sp>
      <p:sp>
        <p:nvSpPr>
          <p:cNvPr id="4" name="tarjeta_2"/>
          <p:cNvSpPr/>
          <p:nvPr/>
        </p:nvSpPr>
        <p:spPr>
          <a:xfrm>
            <a:off x="548640" y="164592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rculo_3"/>
          <p:cNvSpPr/>
          <p:nvPr/>
        </p:nvSpPr>
        <p:spPr>
          <a:xfrm>
            <a:off x="777240" y="186537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_4"/>
          <p:cNvSpPr txBox="1"/>
          <p:nvPr/>
        </p:nvSpPr>
        <p:spPr>
          <a:xfrm>
            <a:off x="77724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o_5"/>
          <p:cNvSpPr txBox="1"/>
          <p:nvPr/>
        </p:nvSpPr>
        <p:spPr>
          <a:xfrm>
            <a:off x="1463040" y="17739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Conceptos</a:t>
            </a:r>
            <a:endParaRPr lang="en-US" sz="1800" dirty="0"/>
          </a:p>
        </p:txBody>
      </p:sp>
      <p:sp>
        <p:nvSpPr>
          <p:cNvPr id="8" name="texto_6"/>
          <p:cNvSpPr txBox="1"/>
          <p:nvPr/>
        </p:nvSpPr>
        <p:spPr>
          <a:xfrm>
            <a:off x="1463040" y="21214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Discos, arandelas, capas y el método general</a:t>
            </a:r>
            <a:endParaRPr lang="en-US" sz="1400" dirty="0"/>
          </a:p>
        </p:txBody>
      </p:sp>
      <p:sp>
        <p:nvSpPr>
          <p:cNvPr id="9" name="tarjeta_7"/>
          <p:cNvSpPr/>
          <p:nvPr/>
        </p:nvSpPr>
        <p:spPr>
          <a:xfrm>
            <a:off x="548640" y="27432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ulo_8"/>
          <p:cNvSpPr/>
          <p:nvPr/>
        </p:nvSpPr>
        <p:spPr>
          <a:xfrm>
            <a:off x="777240" y="296265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ero_9"/>
          <p:cNvSpPr txBox="1"/>
          <p:nvPr/>
        </p:nvSpPr>
        <p:spPr>
          <a:xfrm>
            <a:off x="777240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o_10"/>
          <p:cNvSpPr txBox="1"/>
          <p:nvPr/>
        </p:nvSpPr>
        <p:spPr>
          <a:xfrm>
            <a:off x="1463040" y="28712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Problema principal</a:t>
            </a:r>
            <a:endParaRPr lang="en-US" sz="1800" dirty="0"/>
          </a:p>
        </p:txBody>
      </p:sp>
      <p:sp>
        <p:nvSpPr>
          <p:cNvPr id="13" name="texto_11"/>
          <p:cNvSpPr txBox="1"/>
          <p:nvPr/>
        </p:nvSpPr>
        <p:spPr>
          <a:xfrm>
            <a:off x="1463040" y="32186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y = x² + 1 y y = x + 3, eje X, arandelas</a:t>
            </a:r>
            <a:endParaRPr lang="en-US" sz="1400" dirty="0"/>
          </a:p>
        </p:txBody>
      </p:sp>
      <p:sp>
        <p:nvSpPr>
          <p:cNvPr id="14" name="tarjeta_12"/>
          <p:cNvSpPr/>
          <p:nvPr/>
        </p:nvSpPr>
        <p:spPr>
          <a:xfrm>
            <a:off x="548640" y="384048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irculo_13"/>
          <p:cNvSpPr/>
          <p:nvPr/>
        </p:nvSpPr>
        <p:spPr>
          <a:xfrm>
            <a:off x="777240" y="405993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ero_14"/>
          <p:cNvSpPr txBox="1"/>
          <p:nvPr/>
        </p:nvSpPr>
        <p:spPr>
          <a:xfrm>
            <a:off x="77724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o_15"/>
          <p:cNvSpPr txBox="1"/>
          <p:nvPr/>
        </p:nvSpPr>
        <p:spPr>
          <a:xfrm>
            <a:off x="1463040" y="39684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Configuración 1</a:t>
            </a:r>
            <a:endParaRPr lang="en-US" sz="1800" dirty="0"/>
          </a:p>
        </p:txBody>
      </p:sp>
      <p:sp>
        <p:nvSpPr>
          <p:cNvPr id="18" name="texto_16"/>
          <p:cNvSpPr txBox="1"/>
          <p:nvPr/>
        </p:nvSpPr>
        <p:spPr>
          <a:xfrm>
            <a:off x="1463040" y="43159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f(x) = √x en [0, 4], discos</a:t>
            </a:r>
            <a:endParaRPr lang="en-US" sz="1400" dirty="0"/>
          </a:p>
        </p:txBody>
      </p:sp>
      <p:sp>
        <p:nvSpPr>
          <p:cNvPr id="19" name="tarjeta_17"/>
          <p:cNvSpPr/>
          <p:nvPr/>
        </p:nvSpPr>
        <p:spPr>
          <a:xfrm>
            <a:off x="548640" y="493776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irculo_18"/>
          <p:cNvSpPr/>
          <p:nvPr/>
        </p:nvSpPr>
        <p:spPr>
          <a:xfrm>
            <a:off x="777240" y="515721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ero_19"/>
          <p:cNvSpPr txBox="1"/>
          <p:nvPr/>
        </p:nvSpPr>
        <p:spPr>
          <a:xfrm>
            <a:off x="777240" y="5157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o_20"/>
          <p:cNvSpPr txBox="1"/>
          <p:nvPr/>
        </p:nvSpPr>
        <p:spPr>
          <a:xfrm>
            <a:off x="1463040" y="506577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Configuración 2</a:t>
            </a:r>
            <a:endParaRPr lang="en-US" sz="1800" dirty="0"/>
          </a:p>
        </p:txBody>
      </p:sp>
      <p:sp>
        <p:nvSpPr>
          <p:cNvPr id="23" name="texto_21"/>
          <p:cNvSpPr txBox="1"/>
          <p:nvPr/>
        </p:nvSpPr>
        <p:spPr>
          <a:xfrm>
            <a:off x="1463040" y="541324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√x y x² en [0, 1], arandelas</a:t>
            </a:r>
            <a:endParaRPr lang="en-US" sz="1400" dirty="0"/>
          </a:p>
        </p:txBody>
      </p:sp>
      <p:sp>
        <p:nvSpPr>
          <p:cNvPr id="24" name="tarjeta_22"/>
          <p:cNvSpPr/>
          <p:nvPr/>
        </p:nvSpPr>
        <p:spPr>
          <a:xfrm>
            <a:off x="6217920" y="164592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irculo_23"/>
          <p:cNvSpPr/>
          <p:nvPr/>
        </p:nvSpPr>
        <p:spPr>
          <a:xfrm>
            <a:off x="6446520" y="186537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numero_24"/>
          <p:cNvSpPr txBox="1"/>
          <p:nvPr/>
        </p:nvSpPr>
        <p:spPr>
          <a:xfrm>
            <a:off x="644652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o_25"/>
          <p:cNvSpPr txBox="1"/>
          <p:nvPr/>
        </p:nvSpPr>
        <p:spPr>
          <a:xfrm>
            <a:off x="7132320" y="177393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Configuración 3</a:t>
            </a:r>
            <a:endParaRPr lang="en-US" sz="1800" dirty="0"/>
          </a:p>
        </p:txBody>
      </p:sp>
      <p:sp>
        <p:nvSpPr>
          <p:cNvPr id="28" name="texto_26"/>
          <p:cNvSpPr txBox="1"/>
          <p:nvPr/>
        </p:nvSpPr>
        <p:spPr>
          <a:xfrm>
            <a:off x="7132320" y="21214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2x y x² en [0, 2], capas cilíndricas</a:t>
            </a:r>
            <a:endParaRPr lang="en-US" sz="1400" dirty="0"/>
          </a:p>
        </p:txBody>
      </p:sp>
      <p:sp>
        <p:nvSpPr>
          <p:cNvPr id="29" name="tarjeta_27"/>
          <p:cNvSpPr/>
          <p:nvPr/>
        </p:nvSpPr>
        <p:spPr>
          <a:xfrm>
            <a:off x="6217920" y="274320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irculo_28"/>
          <p:cNvSpPr/>
          <p:nvPr/>
        </p:nvSpPr>
        <p:spPr>
          <a:xfrm>
            <a:off x="6446520" y="296265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numero_29"/>
          <p:cNvSpPr txBox="1"/>
          <p:nvPr/>
        </p:nvSpPr>
        <p:spPr>
          <a:xfrm>
            <a:off x="6446520" y="29626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o_30"/>
          <p:cNvSpPr txBox="1"/>
          <p:nvPr/>
        </p:nvSpPr>
        <p:spPr>
          <a:xfrm>
            <a:off x="7132320" y="287121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Simulador</a:t>
            </a:r>
            <a:endParaRPr lang="en-US" sz="1800" dirty="0"/>
          </a:p>
        </p:txBody>
      </p:sp>
      <p:sp>
        <p:nvSpPr>
          <p:cNvPr id="33" name="texto_31"/>
          <p:cNvSpPr txBox="1"/>
          <p:nvPr/>
        </p:nvSpPr>
        <p:spPr>
          <a:xfrm>
            <a:off x="7132320" y="321868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Funcionamiento, validación, gráficas y datos</a:t>
            </a:r>
            <a:endParaRPr lang="en-US" sz="1400" dirty="0"/>
          </a:p>
        </p:txBody>
      </p:sp>
      <p:sp>
        <p:nvSpPr>
          <p:cNvPr id="34" name="tarjeta_32"/>
          <p:cNvSpPr/>
          <p:nvPr/>
        </p:nvSpPr>
        <p:spPr>
          <a:xfrm>
            <a:off x="6217920" y="3840480"/>
            <a:ext cx="5394960" cy="9144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5" name="circulo_33"/>
          <p:cNvSpPr/>
          <p:nvPr/>
        </p:nvSpPr>
        <p:spPr>
          <a:xfrm>
            <a:off x="6446520" y="4059936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numero_34"/>
          <p:cNvSpPr txBox="1"/>
          <p:nvPr/>
        </p:nvSpPr>
        <p:spPr>
          <a:xfrm>
            <a:off x="6446520" y="40599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o_35"/>
          <p:cNvSpPr txBox="1"/>
          <p:nvPr/>
        </p:nvSpPr>
        <p:spPr>
          <a:xfrm>
            <a:off x="7132320" y="3968496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Maqueta y cierre</a:t>
            </a:r>
            <a:endParaRPr lang="en-US" sz="1800" dirty="0"/>
          </a:p>
        </p:txBody>
      </p:sp>
      <p:sp>
        <p:nvSpPr>
          <p:cNvPr id="38" name="texto_36"/>
          <p:cNvSpPr txBox="1"/>
          <p:nvPr/>
        </p:nvSpPr>
        <p:spPr>
          <a:xfrm>
            <a:off x="7132320" y="431596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Modelo físico, dificultades y conclusiones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CONCEPTOS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Tres formas de rebanar un sólido</a:t>
            </a:r>
            <a:endParaRPr lang="en-US" sz="3200" dirty="0"/>
          </a:p>
        </p:txBody>
      </p:sp>
      <p:sp>
        <p:nvSpPr>
          <p:cNvPr id="4" name="tarjeta_37"/>
          <p:cNvSpPr/>
          <p:nvPr/>
        </p:nvSpPr>
        <p:spPr>
          <a:xfrm>
            <a:off x="548640" y="155448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icono_disco_38"/>
          <p:cNvSpPr/>
          <p:nvPr/>
        </p:nvSpPr>
        <p:spPr>
          <a:xfrm>
            <a:off x="868680" y="1874520"/>
            <a:ext cx="1645920" cy="82296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6" name="texto_39"/>
          <p:cNvSpPr txBox="1"/>
          <p:nvPr/>
        </p:nvSpPr>
        <p:spPr>
          <a:xfrm>
            <a:off x="86868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</a:t>
            </a:r>
            <a:endParaRPr lang="en-US" sz="2200" dirty="0"/>
          </a:p>
        </p:txBody>
      </p:sp>
      <p:sp>
        <p:nvSpPr>
          <p:cNvPr id="7" name="texto_40"/>
          <p:cNvSpPr txBox="1"/>
          <p:nvPr/>
        </p:nvSpPr>
        <p:spPr>
          <a:xfrm>
            <a:off x="868680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π ∫ₐᵇ [f(x)]² dx</a:t>
            </a:r>
            <a:endParaRPr lang="en-US" sz="1800" dirty="0"/>
          </a:p>
        </p:txBody>
      </p:sp>
      <p:sp>
        <p:nvSpPr>
          <p:cNvPr id="8" name="texto_41"/>
          <p:cNvSpPr txBox="1"/>
          <p:nvPr/>
        </p:nvSpPr>
        <p:spPr>
          <a:xfrm>
            <a:off x="868680" y="39776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región toca el eje. Cada rebanada perpendicular al eje es un círculo lleno de radio f(x).</a:t>
            </a:r>
            <a:endParaRPr lang="en-US" sz="1500" dirty="0"/>
          </a:p>
        </p:txBody>
      </p:sp>
      <p:sp>
        <p:nvSpPr>
          <p:cNvPr id="9" name="texto_42"/>
          <p:cNvSpPr txBox="1"/>
          <p:nvPr/>
        </p:nvSpPr>
        <p:spPr>
          <a:xfrm>
            <a:off x="868680" y="5577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Eje X</a:t>
            </a:r>
            <a:endParaRPr lang="en-US" sz="1500" dirty="0"/>
          </a:p>
        </p:txBody>
      </p:sp>
      <p:sp>
        <p:nvSpPr>
          <p:cNvPr id="10" name="tarjeta_43"/>
          <p:cNvSpPr/>
          <p:nvPr/>
        </p:nvSpPr>
        <p:spPr>
          <a:xfrm>
            <a:off x="4297680" y="155448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o_arandela_44"/>
          <p:cNvSpPr/>
          <p:nvPr/>
        </p:nvSpPr>
        <p:spPr>
          <a:xfrm>
            <a:off x="4617720" y="1874520"/>
            <a:ext cx="1645920" cy="82296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12" name="icono_hueco_45"/>
          <p:cNvSpPr/>
          <p:nvPr/>
        </p:nvSpPr>
        <p:spPr>
          <a:xfrm>
            <a:off x="5166360" y="2148840"/>
            <a:ext cx="548640" cy="274320"/>
          </a:xfrm>
          <a:prstGeom prst="ellipse">
            <a:avLst/>
          </a:prstGeom>
          <a:solidFill>
            <a:schemeClr val="bg2"/>
          </a:solidFill>
          <a:ln w="25400">
            <a:solidFill>
              <a:schemeClr val="accent2"/>
            </a:solidFill>
            <a:prstDash val="solid"/>
          </a:ln>
        </p:spPr>
      </p:sp>
      <p:sp>
        <p:nvSpPr>
          <p:cNvPr id="13" name="texto_46"/>
          <p:cNvSpPr txBox="1"/>
          <p:nvPr/>
        </p:nvSpPr>
        <p:spPr>
          <a:xfrm>
            <a:off x="461772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Arandelas</a:t>
            </a:r>
            <a:endParaRPr lang="en-US" sz="2200" dirty="0"/>
          </a:p>
        </p:txBody>
      </p:sp>
      <p:sp>
        <p:nvSpPr>
          <p:cNvPr id="14" name="texto_47"/>
          <p:cNvSpPr txBox="1"/>
          <p:nvPr/>
        </p:nvSpPr>
        <p:spPr>
          <a:xfrm>
            <a:off x="4617720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π ∫ₐᵇ ([f(x)]² − [g(x)]²) dx</a:t>
            </a:r>
            <a:endParaRPr lang="en-US" sz="1800" dirty="0"/>
          </a:p>
        </p:txBody>
      </p:sp>
      <p:sp>
        <p:nvSpPr>
          <p:cNvPr id="15" name="texto_48"/>
          <p:cNvSpPr txBox="1"/>
          <p:nvPr/>
        </p:nvSpPr>
        <p:spPr>
          <a:xfrm>
            <a:off x="4617720" y="39776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región está separada del eje. Cada rebanada es un círculo con un hueco: radio exterior R = f(x) y radio interior r = g(x).</a:t>
            </a:r>
            <a:endParaRPr lang="en-US" sz="1500" dirty="0"/>
          </a:p>
        </p:txBody>
      </p:sp>
      <p:sp>
        <p:nvSpPr>
          <p:cNvPr id="16" name="texto_49"/>
          <p:cNvSpPr txBox="1"/>
          <p:nvPr/>
        </p:nvSpPr>
        <p:spPr>
          <a:xfrm>
            <a:off x="4617720" y="5577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Eje X</a:t>
            </a:r>
            <a:endParaRPr lang="en-US" sz="1500" dirty="0"/>
          </a:p>
        </p:txBody>
      </p:sp>
      <p:sp>
        <p:nvSpPr>
          <p:cNvPr id="17" name="tarjeta_50"/>
          <p:cNvSpPr/>
          <p:nvPr/>
        </p:nvSpPr>
        <p:spPr>
          <a:xfrm>
            <a:off x="8046720" y="1554480"/>
            <a:ext cx="3520440" cy="457200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icono_capa_51"/>
          <p:cNvSpPr/>
          <p:nvPr/>
        </p:nvSpPr>
        <p:spPr>
          <a:xfrm>
            <a:off x="8641080" y="1984248"/>
            <a:ext cx="1097280" cy="603504"/>
          </a:xfrm>
          <a:prstGeom prst="rect">
            <a:avLst/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icono_capa_base_52"/>
          <p:cNvSpPr/>
          <p:nvPr/>
        </p:nvSpPr>
        <p:spPr>
          <a:xfrm>
            <a:off x="8641080" y="2441448"/>
            <a:ext cx="1097280" cy="274320"/>
          </a:xfrm>
          <a:prstGeom prst="ellipse">
            <a:avLst/>
          </a:prstGeom>
          <a:solidFill>
            <a:schemeClr val="accent6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0" name="icono_capa_tapa_53"/>
          <p:cNvSpPr/>
          <p:nvPr/>
        </p:nvSpPr>
        <p:spPr>
          <a:xfrm>
            <a:off x="8641080" y="1874520"/>
            <a:ext cx="1097280" cy="274320"/>
          </a:xfrm>
          <a:prstGeom prst="ellipse">
            <a:avLst/>
          </a:prstGeom>
          <a:solidFill>
            <a:srgbClr val="E0F2FE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1" name="texto_54"/>
          <p:cNvSpPr txBox="1"/>
          <p:nvPr/>
        </p:nvSpPr>
        <p:spPr>
          <a:xfrm>
            <a:off x="8366760" y="288036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Capas cilíndricas</a:t>
            </a:r>
            <a:endParaRPr lang="en-US" sz="2200" dirty="0"/>
          </a:p>
        </p:txBody>
      </p:sp>
      <p:sp>
        <p:nvSpPr>
          <p:cNvPr id="22" name="texto_55"/>
          <p:cNvSpPr txBox="1"/>
          <p:nvPr/>
        </p:nvSpPr>
        <p:spPr>
          <a:xfrm>
            <a:off x="8366760" y="33832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2π ∫ₐᵇ x (f(x) − g(x)) dx</a:t>
            </a:r>
            <a:endParaRPr lang="en-US" sz="1800" dirty="0"/>
          </a:p>
        </p:txBody>
      </p:sp>
      <p:sp>
        <p:nvSpPr>
          <p:cNvPr id="23" name="texto_56"/>
          <p:cNvSpPr txBox="1"/>
          <p:nvPr/>
        </p:nvSpPr>
        <p:spPr>
          <a:xfrm>
            <a:off x="8366760" y="397764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Franjas verticales paralelas al eje que, al girar, forman cilindros huecos de radio x y altura f(x) − g(x).</a:t>
            </a:r>
            <a:endParaRPr lang="en-US" sz="1500" dirty="0"/>
          </a:p>
        </p:txBody>
      </p:sp>
      <p:sp>
        <p:nvSpPr>
          <p:cNvPr id="24" name="texto_57"/>
          <p:cNvSpPr txBox="1"/>
          <p:nvPr/>
        </p:nvSpPr>
        <p:spPr>
          <a:xfrm>
            <a:off x="8366760" y="55778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Eje Y · 0 ≤ a &lt; b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MÉTODO DE TRABAJO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Los 6 pasos que seguimos en cada problema</a:t>
            </a:r>
            <a:endParaRPr lang="en-US" sz="3200" dirty="0"/>
          </a:p>
        </p:txBody>
      </p:sp>
      <p:sp>
        <p:nvSpPr>
          <p:cNvPr id="4" name="tarjeta_58"/>
          <p:cNvSpPr/>
          <p:nvPr/>
        </p:nvSpPr>
        <p:spPr>
          <a:xfrm>
            <a:off x="548640" y="1600200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rculo_59"/>
          <p:cNvSpPr/>
          <p:nvPr/>
        </p:nvSpPr>
        <p:spPr>
          <a:xfrm>
            <a:off x="731520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_60"/>
          <p:cNvSpPr txBox="1"/>
          <p:nvPr/>
        </p:nvSpPr>
        <p:spPr>
          <a:xfrm>
            <a:off x="73152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o_61"/>
          <p:cNvSpPr txBox="1"/>
          <p:nvPr/>
        </p:nvSpPr>
        <p:spPr>
          <a:xfrm>
            <a:off x="731520" y="24048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Graficar</a:t>
            </a:r>
            <a:endParaRPr lang="en-US" sz="1600" dirty="0"/>
          </a:p>
        </p:txBody>
      </p:sp>
      <p:sp>
        <p:nvSpPr>
          <p:cNvPr id="8" name="texto_62"/>
          <p:cNvSpPr txBox="1"/>
          <p:nvPr/>
        </p:nvSpPr>
        <p:spPr>
          <a:xfrm>
            <a:off x="731520" y="29535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Dibujar las curvas, la región y el eje de rotación</a:t>
            </a:r>
            <a:endParaRPr lang="en-US" sz="1300" dirty="0"/>
          </a:p>
        </p:txBody>
      </p:sp>
      <p:sp>
        <p:nvSpPr>
          <p:cNvPr id="9" name="tarjeta_63"/>
          <p:cNvSpPr/>
          <p:nvPr/>
        </p:nvSpPr>
        <p:spPr>
          <a:xfrm>
            <a:off x="2423160" y="1600200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circulo_64"/>
          <p:cNvSpPr/>
          <p:nvPr/>
        </p:nvSpPr>
        <p:spPr>
          <a:xfrm>
            <a:off x="2606040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ero_65"/>
          <p:cNvSpPr txBox="1"/>
          <p:nvPr/>
        </p:nvSpPr>
        <p:spPr>
          <a:xfrm>
            <a:off x="260604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o_66"/>
          <p:cNvSpPr txBox="1"/>
          <p:nvPr/>
        </p:nvSpPr>
        <p:spPr>
          <a:xfrm>
            <a:off x="2606040" y="24048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Límites</a:t>
            </a:r>
            <a:endParaRPr lang="en-US" sz="1600" dirty="0"/>
          </a:p>
        </p:txBody>
      </p:sp>
      <p:sp>
        <p:nvSpPr>
          <p:cNvPr id="13" name="texto_67"/>
          <p:cNvSpPr txBox="1"/>
          <p:nvPr/>
        </p:nvSpPr>
        <p:spPr>
          <a:xfrm>
            <a:off x="2606040" y="29535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Igualar f(x) = g(x) para hallar a y b</a:t>
            </a:r>
            <a:endParaRPr lang="en-US" sz="1300" dirty="0"/>
          </a:p>
        </p:txBody>
      </p:sp>
      <p:sp>
        <p:nvSpPr>
          <p:cNvPr id="14" name="tarjeta_68"/>
          <p:cNvSpPr/>
          <p:nvPr/>
        </p:nvSpPr>
        <p:spPr>
          <a:xfrm>
            <a:off x="4297680" y="1600200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circulo_69"/>
          <p:cNvSpPr/>
          <p:nvPr/>
        </p:nvSpPr>
        <p:spPr>
          <a:xfrm>
            <a:off x="4480560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ero_70"/>
          <p:cNvSpPr txBox="1"/>
          <p:nvPr/>
        </p:nvSpPr>
        <p:spPr>
          <a:xfrm>
            <a:off x="448056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o_71"/>
          <p:cNvSpPr txBox="1"/>
          <p:nvPr/>
        </p:nvSpPr>
        <p:spPr>
          <a:xfrm>
            <a:off x="4480560" y="24048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Superior e inferior</a:t>
            </a:r>
            <a:endParaRPr lang="en-US" sz="1600" dirty="0"/>
          </a:p>
        </p:txBody>
      </p:sp>
      <p:sp>
        <p:nvSpPr>
          <p:cNvPr id="18" name="texto_72"/>
          <p:cNvSpPr txBox="1"/>
          <p:nvPr/>
        </p:nvSpPr>
        <p:spPr>
          <a:xfrm>
            <a:off x="4480560" y="29535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Evaluar un punto de prueba dentro del intervalo</a:t>
            </a:r>
            <a:endParaRPr lang="en-US" sz="1300" dirty="0"/>
          </a:p>
        </p:txBody>
      </p:sp>
      <p:sp>
        <p:nvSpPr>
          <p:cNvPr id="19" name="tarjeta_73"/>
          <p:cNvSpPr/>
          <p:nvPr/>
        </p:nvSpPr>
        <p:spPr>
          <a:xfrm>
            <a:off x="6172200" y="1600200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circulo_74"/>
          <p:cNvSpPr/>
          <p:nvPr/>
        </p:nvSpPr>
        <p:spPr>
          <a:xfrm>
            <a:off x="6355080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ero_75"/>
          <p:cNvSpPr txBox="1"/>
          <p:nvPr/>
        </p:nvSpPr>
        <p:spPr>
          <a:xfrm>
            <a:off x="635508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o_76"/>
          <p:cNvSpPr txBox="1"/>
          <p:nvPr/>
        </p:nvSpPr>
        <p:spPr>
          <a:xfrm>
            <a:off x="6355080" y="24048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Radios</a:t>
            </a:r>
            <a:endParaRPr lang="en-US" sz="1600" dirty="0"/>
          </a:p>
        </p:txBody>
      </p:sp>
      <p:sp>
        <p:nvSpPr>
          <p:cNvPr id="23" name="texto_77"/>
          <p:cNvSpPr txBox="1"/>
          <p:nvPr/>
        </p:nvSpPr>
        <p:spPr>
          <a:xfrm>
            <a:off x="6355080" y="29535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Medir la distancia de cada curva al eje</a:t>
            </a:r>
            <a:endParaRPr lang="en-US" sz="1300" dirty="0"/>
          </a:p>
        </p:txBody>
      </p:sp>
      <p:sp>
        <p:nvSpPr>
          <p:cNvPr id="24" name="tarjeta_78"/>
          <p:cNvSpPr/>
          <p:nvPr/>
        </p:nvSpPr>
        <p:spPr>
          <a:xfrm>
            <a:off x="8046720" y="1600200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5" name="circulo_79"/>
          <p:cNvSpPr/>
          <p:nvPr/>
        </p:nvSpPr>
        <p:spPr>
          <a:xfrm>
            <a:off x="8229600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numero_80"/>
          <p:cNvSpPr txBox="1"/>
          <p:nvPr/>
        </p:nvSpPr>
        <p:spPr>
          <a:xfrm>
            <a:off x="822960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o_81"/>
          <p:cNvSpPr txBox="1"/>
          <p:nvPr/>
        </p:nvSpPr>
        <p:spPr>
          <a:xfrm>
            <a:off x="8229600" y="24048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Integral</a:t>
            </a:r>
            <a:endParaRPr lang="en-US" sz="1600" dirty="0"/>
          </a:p>
        </p:txBody>
      </p:sp>
      <p:sp>
        <p:nvSpPr>
          <p:cNvPr id="28" name="texto_82"/>
          <p:cNvSpPr txBox="1"/>
          <p:nvPr/>
        </p:nvSpPr>
        <p:spPr>
          <a:xfrm>
            <a:off x="8229600" y="29535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Escribir el área de la pieza y plantear V</a:t>
            </a:r>
            <a:endParaRPr lang="en-US" sz="1300" dirty="0"/>
          </a:p>
        </p:txBody>
      </p:sp>
      <p:sp>
        <p:nvSpPr>
          <p:cNvPr id="29" name="tarjeta_83"/>
          <p:cNvSpPr/>
          <p:nvPr/>
        </p:nvSpPr>
        <p:spPr>
          <a:xfrm>
            <a:off x="9921240" y="1600200"/>
            <a:ext cx="1691640" cy="2240280"/>
          </a:xfrm>
          <a:prstGeom prst="roundRect">
            <a:avLst>
              <a:gd name="adj" fmla="val 64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0" name="circulo_84"/>
          <p:cNvSpPr/>
          <p:nvPr/>
        </p:nvSpPr>
        <p:spPr>
          <a:xfrm>
            <a:off x="10104120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1" name="numero_85"/>
          <p:cNvSpPr txBox="1"/>
          <p:nvPr/>
        </p:nvSpPr>
        <p:spPr>
          <a:xfrm>
            <a:off x="1010412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o_86"/>
          <p:cNvSpPr txBox="1"/>
          <p:nvPr/>
        </p:nvSpPr>
        <p:spPr>
          <a:xfrm>
            <a:off x="10104120" y="2404872"/>
            <a:ext cx="1371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Resolver</a:t>
            </a:r>
            <a:endParaRPr lang="en-US" sz="1600" dirty="0"/>
          </a:p>
        </p:txBody>
      </p:sp>
      <p:sp>
        <p:nvSpPr>
          <p:cNvPr id="33" name="texto_87"/>
          <p:cNvSpPr txBox="1"/>
          <p:nvPr/>
        </p:nvSpPr>
        <p:spPr>
          <a:xfrm>
            <a:off x="10104120" y="2953512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Antiderivada, evaluar en b y en a, restar</a:t>
            </a:r>
            <a:endParaRPr lang="en-US" sz="1300" dirty="0"/>
          </a:p>
        </p:txBody>
      </p:sp>
      <p:sp>
        <p:nvSpPr>
          <p:cNvPr id="34" name="texto_88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método y qué eje se pueden usar?</a:t>
            </a:r>
            <a:endParaRPr lang="en-US" sz="1800" dirty="0"/>
          </a:p>
        </p:txBody>
      </p:sp>
      <p:graphicFrame>
        <p:nvGraphicFramePr>
          <p:cNvPr id="5" name="tabla_8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57200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194560"/>
                <a:gridCol w="61264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Método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Eje permitido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Condición que debe cumplir la región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Disco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Eje X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f(x) ≥ g(x) = 0 en [a, b]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Arandelas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Eje X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f(x) ≥ g(x) ≥ 0 en [a, b]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Capas cilíndricas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Eje Y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 ≤ a &lt; b y f(x) ≥ g(x) en [a, b]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6"/>
                </a:solidFill>
              </a:rPr>
              <a:t>PROBLEMA PRINCIPAL · MÉTODO DE ARANDELAS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146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y = x² + 1  y  y = x + 3 alrededor del eje X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Lo resolvemos en 6 pasos, desde la gráfica hasta el volumen.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PROBLEMA PRINCIPAL · ENUNCIADO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Girar la región entre dos curvas alrededor del eje X</a:t>
            </a:r>
            <a:endParaRPr lang="en-US" sz="3200" dirty="0"/>
          </a:p>
        </p:txBody>
      </p:sp>
      <p:sp>
        <p:nvSpPr>
          <p:cNvPr id="4" name="texto_90"/>
          <p:cNvSpPr txBox="1"/>
          <p:nvPr/>
        </p:nvSpPr>
        <p:spPr>
          <a:xfrm>
            <a:off x="7507224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Paso 1 de 6: graficar</a:t>
            </a:r>
            <a:endParaRPr lang="en-US" sz="1100" dirty="0"/>
          </a:p>
        </p:txBody>
      </p:sp>
      <p:sp>
        <p:nvSpPr>
          <p:cNvPr id="5" name="progreso_91"/>
          <p:cNvSpPr/>
          <p:nvPr/>
        </p:nvSpPr>
        <p:spPr>
          <a:xfrm>
            <a:off x="9884664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rogreso_92"/>
          <p:cNvSpPr/>
          <p:nvPr/>
        </p:nvSpPr>
        <p:spPr>
          <a:xfrm>
            <a:off x="10177272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rogreso_93"/>
          <p:cNvSpPr/>
          <p:nvPr/>
        </p:nvSpPr>
        <p:spPr>
          <a:xfrm>
            <a:off x="10469880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rogreso_94"/>
          <p:cNvSpPr/>
          <p:nvPr/>
        </p:nvSpPr>
        <p:spPr>
          <a:xfrm>
            <a:off x="10762488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rogreso_95"/>
          <p:cNvSpPr/>
          <p:nvPr/>
        </p:nvSpPr>
        <p:spPr>
          <a:xfrm>
            <a:off x="11055096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rogreso_96"/>
          <p:cNvSpPr/>
          <p:nvPr/>
        </p:nvSpPr>
        <p:spPr>
          <a:xfrm>
            <a:off x="11347704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arjeta_97"/>
          <p:cNvSpPr/>
          <p:nvPr/>
        </p:nvSpPr>
        <p:spPr>
          <a:xfrm>
            <a:off x="548640" y="1554480"/>
            <a:ext cx="49377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o_98"/>
          <p:cNvSpPr txBox="1"/>
          <p:nvPr/>
        </p:nvSpPr>
        <p:spPr>
          <a:xfrm>
            <a:off x="777240" y="173736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Calcular el volumen del sólido generado al girar la región limitada por:</a:t>
            </a:r>
            <a:endParaRPr lang="en-US" sz="1600" dirty="0"/>
          </a:p>
        </p:txBody>
      </p:sp>
      <p:sp>
        <p:nvSpPr>
          <p:cNvPr id="13" name="texto_99"/>
          <p:cNvSpPr txBox="1"/>
          <p:nvPr/>
        </p:nvSpPr>
        <p:spPr>
          <a:xfrm>
            <a:off x="777240" y="237744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accent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y₁ = x² + 1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y₂ = x + 3</a:t>
            </a:r>
            <a:endParaRPr lang="en-US" sz="2600" dirty="0"/>
          </a:p>
        </p:txBody>
      </p:sp>
      <p:sp>
        <p:nvSpPr>
          <p:cNvPr id="14" name="texto_100"/>
          <p:cNvSpPr txBox="1"/>
          <p:nvPr/>
        </p:nvSpPr>
        <p:spPr>
          <a:xfrm>
            <a:off x="777240" y="33832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Eje de rotación: eje X (y = 0)</a:t>
            </a:r>
            <a:endParaRPr lang="en-US" sz="1600" dirty="0"/>
          </a:p>
        </p:txBody>
      </p:sp>
      <p:sp>
        <p:nvSpPr>
          <p:cNvPr id="15" name="texto_101"/>
          <p:cNvSpPr txBox="1"/>
          <p:nvPr/>
        </p:nvSpPr>
        <p:spPr>
          <a:xfrm>
            <a:off x="54864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 pide:</a:t>
            </a:r>
            <a:endParaRPr lang="en-US" sz="1600" dirty="0"/>
          </a:p>
        </p:txBody>
      </p:sp>
      <p:sp>
        <p:nvSpPr>
          <p:cNvPr id="16" name="texto_102"/>
          <p:cNvSpPr txBox="1"/>
          <p:nvPr/>
        </p:nvSpPr>
        <p:spPr>
          <a:xfrm>
            <a:off x="548640" y="448056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a) Puntos de intersección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b) Función superior e inferior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c) Ecuación del volumen por arandelas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d) Volumen numérico</a:t>
            </a:r>
            <a:endParaRPr lang="en-US" sz="15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e) Esquema de la región</a:t>
            </a:r>
            <a:endParaRPr lang="en-US" sz="1500" dirty="0"/>
          </a:p>
        </p:txBody>
      </p:sp>
      <p:pic>
        <p:nvPicPr>
          <p:cNvPr id="17" name="imagen_103" descr="Región entre y = x + 3 y y = x² + 1 en [−1, 2]; eje de rotación y = 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554480"/>
            <a:ext cx="5806440" cy="3776472"/>
          </a:xfrm>
          <a:prstGeom prst="rect">
            <a:avLst/>
          </a:prstGeom>
        </p:spPr>
      </p:pic>
      <p:sp>
        <p:nvSpPr>
          <p:cNvPr id="18" name="texto_104"/>
          <p:cNvSpPr txBox="1"/>
          <p:nvPr/>
        </p:nvSpPr>
        <p:spPr>
          <a:xfrm>
            <a:off x="5806440" y="5440680"/>
            <a:ext cx="5806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Paso 1 · Esquema: la región R (celeste) queda entre la recta y la parábola, por encima del eje X.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PROBLEMA PRINCIPAL · INCISO 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Paso 2: hallar los límites de integración</a:t>
            </a:r>
            <a:endParaRPr lang="en-US" sz="3200" dirty="0"/>
          </a:p>
        </p:txBody>
      </p:sp>
      <p:sp>
        <p:nvSpPr>
          <p:cNvPr id="4" name="texto_105"/>
          <p:cNvSpPr txBox="1"/>
          <p:nvPr/>
        </p:nvSpPr>
        <p:spPr>
          <a:xfrm>
            <a:off x="7507224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Paso 2 de 6: límites</a:t>
            </a:r>
            <a:endParaRPr lang="en-US" sz="1100" dirty="0"/>
          </a:p>
        </p:txBody>
      </p:sp>
      <p:sp>
        <p:nvSpPr>
          <p:cNvPr id="5" name="progreso_106"/>
          <p:cNvSpPr/>
          <p:nvPr/>
        </p:nvSpPr>
        <p:spPr>
          <a:xfrm>
            <a:off x="9884664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rogreso_107"/>
          <p:cNvSpPr/>
          <p:nvPr/>
        </p:nvSpPr>
        <p:spPr>
          <a:xfrm>
            <a:off x="10177272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rogreso_108"/>
          <p:cNvSpPr/>
          <p:nvPr/>
        </p:nvSpPr>
        <p:spPr>
          <a:xfrm>
            <a:off x="10469880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rogreso_109"/>
          <p:cNvSpPr/>
          <p:nvPr/>
        </p:nvSpPr>
        <p:spPr>
          <a:xfrm>
            <a:off x="10762488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rogreso_110"/>
          <p:cNvSpPr/>
          <p:nvPr/>
        </p:nvSpPr>
        <p:spPr>
          <a:xfrm>
            <a:off x="11055096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rogreso_111"/>
          <p:cNvSpPr/>
          <p:nvPr/>
        </p:nvSpPr>
        <p:spPr>
          <a:xfrm>
            <a:off x="11347704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circulo_112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ero_113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3" name="texto_114"/>
          <p:cNvSpPr txBox="1"/>
          <p:nvPr/>
        </p:nvSpPr>
        <p:spPr>
          <a:xfrm>
            <a:off x="1097280" y="16002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Igualamos las dos curvas (donde se cortan tienen la misma altura):</a:t>
            </a:r>
            <a:endParaRPr lang="en-US" sz="1600" dirty="0"/>
          </a:p>
        </p:txBody>
      </p:sp>
      <p:sp>
        <p:nvSpPr>
          <p:cNvPr id="14" name="texto_115"/>
          <p:cNvSpPr txBox="1"/>
          <p:nvPr/>
        </p:nvSpPr>
        <p:spPr>
          <a:xfrm>
            <a:off x="1097280" y="19659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x² + 1 = x + 3</a:t>
            </a:r>
            <a:endParaRPr lang="en-US" sz="2000" dirty="0"/>
          </a:p>
        </p:txBody>
      </p:sp>
      <p:sp>
        <p:nvSpPr>
          <p:cNvPr id="15" name="circulo_116"/>
          <p:cNvSpPr/>
          <p:nvPr/>
        </p:nvSpPr>
        <p:spPr>
          <a:xfrm>
            <a:off x="548640" y="25328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numero_117"/>
          <p:cNvSpPr txBox="1"/>
          <p:nvPr/>
        </p:nvSpPr>
        <p:spPr>
          <a:xfrm>
            <a:off x="548640" y="25328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7" name="texto_118"/>
          <p:cNvSpPr txBox="1"/>
          <p:nvPr/>
        </p:nvSpPr>
        <p:spPr>
          <a:xfrm>
            <a:off x="1097280" y="25146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Pasamos todo al lado izquierdo:</a:t>
            </a:r>
            <a:endParaRPr lang="en-US" sz="1600" dirty="0"/>
          </a:p>
        </p:txBody>
      </p:sp>
      <p:sp>
        <p:nvSpPr>
          <p:cNvPr id="18" name="texto_119"/>
          <p:cNvSpPr txBox="1"/>
          <p:nvPr/>
        </p:nvSpPr>
        <p:spPr>
          <a:xfrm>
            <a:off x="1097280" y="2880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x² − x − 2 = 0</a:t>
            </a:r>
            <a:endParaRPr lang="en-US" sz="2000" dirty="0"/>
          </a:p>
        </p:txBody>
      </p:sp>
      <p:sp>
        <p:nvSpPr>
          <p:cNvPr id="19" name="circulo_120"/>
          <p:cNvSpPr/>
          <p:nvPr/>
        </p:nvSpPr>
        <p:spPr>
          <a:xfrm>
            <a:off x="548640" y="34472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numero_121"/>
          <p:cNvSpPr txBox="1"/>
          <p:nvPr/>
        </p:nvSpPr>
        <p:spPr>
          <a:xfrm>
            <a:off x="5486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o_122"/>
          <p:cNvSpPr txBox="1"/>
          <p:nvPr/>
        </p:nvSpPr>
        <p:spPr>
          <a:xfrm>
            <a:off x="1097280" y="342900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Factorizamos: dos números que multiplicados den −2 y sumados den −1 (son −2 y +1):</a:t>
            </a:r>
            <a:endParaRPr lang="en-US" sz="1600" dirty="0"/>
          </a:p>
        </p:txBody>
      </p:sp>
      <p:sp>
        <p:nvSpPr>
          <p:cNvPr id="22" name="texto_123"/>
          <p:cNvSpPr txBox="1"/>
          <p:nvPr/>
        </p:nvSpPr>
        <p:spPr>
          <a:xfrm>
            <a:off x="1097280" y="4023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 − 2)(x + 1) = 0</a:t>
            </a:r>
            <a:endParaRPr lang="en-US" sz="2000" dirty="0"/>
          </a:p>
        </p:txBody>
      </p:sp>
      <p:sp>
        <p:nvSpPr>
          <p:cNvPr id="23" name="circulo_124"/>
          <p:cNvSpPr/>
          <p:nvPr/>
        </p:nvSpPr>
        <p:spPr>
          <a:xfrm>
            <a:off x="548640" y="45902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numero_125"/>
          <p:cNvSpPr txBox="1"/>
          <p:nvPr/>
        </p:nvSpPr>
        <p:spPr>
          <a:xfrm>
            <a:off x="548640" y="4590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o_126"/>
          <p:cNvSpPr txBox="1"/>
          <p:nvPr/>
        </p:nvSpPr>
        <p:spPr>
          <a:xfrm>
            <a:off x="1097280" y="45720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Igualamos cada factor a cero:</a:t>
            </a:r>
            <a:endParaRPr lang="en-US" sz="1600" dirty="0"/>
          </a:p>
        </p:txBody>
      </p:sp>
      <p:sp>
        <p:nvSpPr>
          <p:cNvPr id="26" name="texto_127"/>
          <p:cNvSpPr txBox="1"/>
          <p:nvPr/>
        </p:nvSpPr>
        <p:spPr>
          <a:xfrm>
            <a:off x="1097280" y="49377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− 2 = 0 → x = 2      x + 1 = 0 → x = −1</a:t>
            </a:r>
            <a:endParaRPr lang="en-US" sz="2000" dirty="0"/>
          </a:p>
        </p:txBody>
      </p:sp>
      <p:sp>
        <p:nvSpPr>
          <p:cNvPr id="27" name="circulo_128"/>
          <p:cNvSpPr/>
          <p:nvPr/>
        </p:nvSpPr>
        <p:spPr>
          <a:xfrm>
            <a:off x="548640" y="55046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numero_129"/>
          <p:cNvSpPr txBox="1"/>
          <p:nvPr/>
        </p:nvSpPr>
        <p:spPr>
          <a:xfrm>
            <a:off x="548640" y="5504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9" name="texto_130"/>
          <p:cNvSpPr txBox="1"/>
          <p:nvPr/>
        </p:nvSpPr>
        <p:spPr>
          <a:xfrm>
            <a:off x="1097280" y="548640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Calculamos y con y = x + 3 y comprobamos en la parábola:</a:t>
            </a:r>
            <a:endParaRPr lang="en-US" sz="1600" dirty="0"/>
          </a:p>
        </p:txBody>
      </p:sp>
      <p:sp>
        <p:nvSpPr>
          <p:cNvPr id="30" name="texto_131"/>
          <p:cNvSpPr txBox="1"/>
          <p:nvPr/>
        </p:nvSpPr>
        <p:spPr>
          <a:xfrm>
            <a:off x="1097280" y="585216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(−1, 2) ✓   y   (2, 5) ✓</a:t>
            </a:r>
            <a:endParaRPr lang="en-US" sz="2000" dirty="0"/>
          </a:p>
        </p:txBody>
      </p:sp>
      <p:sp>
        <p:nvSpPr>
          <p:cNvPr id="31" name="tarjeta_132"/>
          <p:cNvSpPr/>
          <p:nvPr/>
        </p:nvSpPr>
        <p:spPr>
          <a:xfrm>
            <a:off x="7498080" y="1600200"/>
            <a:ext cx="4114800" cy="2377440"/>
          </a:xfrm>
          <a:prstGeom prst="roundRect">
            <a:avLst>
              <a:gd name="adj" fmla="val 461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32" name="texto_133"/>
          <p:cNvSpPr txBox="1"/>
          <p:nvPr/>
        </p:nvSpPr>
        <p:spPr>
          <a:xfrm>
            <a:off x="777240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LÍMITES DE INTEGRACIÓN</a:t>
            </a:r>
            <a:endParaRPr lang="en-US" sz="1300" dirty="0"/>
          </a:p>
        </p:txBody>
      </p:sp>
      <p:sp>
        <p:nvSpPr>
          <p:cNvPr id="33" name="texto_134"/>
          <p:cNvSpPr txBox="1"/>
          <p:nvPr/>
        </p:nvSpPr>
        <p:spPr>
          <a:xfrm>
            <a:off x="7772400" y="22402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−1    b = 2</a:t>
            </a:r>
            <a:endParaRPr lang="en-US" sz="3600" dirty="0"/>
          </a:p>
        </p:txBody>
      </p:sp>
      <p:sp>
        <p:nvSpPr>
          <p:cNvPr id="34" name="texto_135"/>
          <p:cNvSpPr txBox="1"/>
          <p:nvPr/>
        </p:nvSpPr>
        <p:spPr>
          <a:xfrm>
            <a:off x="7772400" y="310896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Puntos de corte P₁(−1, 2) y P₂(2, 5)</a:t>
            </a:r>
            <a:endParaRPr lang="en-US" sz="1500" dirty="0"/>
          </a:p>
        </p:txBody>
      </p:sp>
      <p:sp>
        <p:nvSpPr>
          <p:cNvPr id="35" name="tarjeta_136"/>
          <p:cNvSpPr/>
          <p:nvPr/>
        </p:nvSpPr>
        <p:spPr>
          <a:xfrm>
            <a:off x="7498080" y="4206240"/>
            <a:ext cx="4114800" cy="192024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6" name="texto_137"/>
          <p:cNvSpPr txBox="1"/>
          <p:nvPr/>
        </p:nvSpPr>
        <p:spPr>
          <a:xfrm>
            <a:off x="772668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Comprobación con la fórmula general</a:t>
            </a:r>
            <a:endParaRPr lang="en-US" sz="1500" dirty="0"/>
          </a:p>
        </p:txBody>
      </p:sp>
      <p:sp>
        <p:nvSpPr>
          <p:cNvPr id="37" name="texto_138"/>
          <p:cNvSpPr txBox="1"/>
          <p:nvPr/>
        </p:nvSpPr>
        <p:spPr>
          <a:xfrm>
            <a:off x="7726680" y="475488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= [1 ± √(1 + 8)] / 2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 = (1 ± 3) / 2 → x = 2, x = −1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PROBLEMA PRINCIPAL · INCISO B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Paso 3: ¿qué curva va arriba?</a:t>
            </a:r>
            <a:endParaRPr lang="en-US" sz="3200" dirty="0"/>
          </a:p>
        </p:txBody>
      </p:sp>
      <p:sp>
        <p:nvSpPr>
          <p:cNvPr id="4" name="texto_139"/>
          <p:cNvSpPr txBox="1"/>
          <p:nvPr/>
        </p:nvSpPr>
        <p:spPr>
          <a:xfrm>
            <a:off x="7507224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Paso 3 de 6: superior e inferior</a:t>
            </a:r>
            <a:endParaRPr lang="en-US" sz="1100" dirty="0"/>
          </a:p>
        </p:txBody>
      </p:sp>
      <p:sp>
        <p:nvSpPr>
          <p:cNvPr id="5" name="progreso_140"/>
          <p:cNvSpPr/>
          <p:nvPr/>
        </p:nvSpPr>
        <p:spPr>
          <a:xfrm>
            <a:off x="9884664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rogreso_141"/>
          <p:cNvSpPr/>
          <p:nvPr/>
        </p:nvSpPr>
        <p:spPr>
          <a:xfrm>
            <a:off x="10177272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rogreso_142"/>
          <p:cNvSpPr/>
          <p:nvPr/>
        </p:nvSpPr>
        <p:spPr>
          <a:xfrm>
            <a:off x="10469880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rogreso_143"/>
          <p:cNvSpPr/>
          <p:nvPr/>
        </p:nvSpPr>
        <p:spPr>
          <a:xfrm>
            <a:off x="10762488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rogreso_144"/>
          <p:cNvSpPr/>
          <p:nvPr/>
        </p:nvSpPr>
        <p:spPr>
          <a:xfrm>
            <a:off x="11055096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rogreso_145"/>
          <p:cNvSpPr/>
          <p:nvPr/>
        </p:nvSpPr>
        <p:spPr>
          <a:xfrm>
            <a:off x="11347704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o_146"/>
          <p:cNvSpPr txBox="1"/>
          <p:nvPr/>
        </p:nvSpPr>
        <p:spPr>
          <a:xfrm>
            <a:off x="548640" y="155448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Evaluamos puntos de prueba dentro de [−1, 2]:</a:t>
            </a:r>
            <a:endParaRPr lang="en-US" sz="1600" dirty="0"/>
          </a:p>
        </p:txBody>
      </p:sp>
      <p:graphicFrame>
        <p:nvGraphicFramePr>
          <p:cNvPr id="9" name="tabla_1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03504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1554480"/>
                <a:gridCol w="182880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Recta x + 3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Parábola x² + 1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¿Cuál es mayor?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−0.5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1.25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recta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recta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recta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3.25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 recta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exto_148"/>
          <p:cNvSpPr txBox="1"/>
          <p:nvPr/>
        </p:nvSpPr>
        <p:spPr>
          <a:xfrm>
            <a:off x="548640" y="4206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También se demuestra algebraicamente:</a:t>
            </a:r>
            <a:endParaRPr lang="en-US" sz="1600" dirty="0"/>
          </a:p>
        </p:txBody>
      </p:sp>
      <p:sp>
        <p:nvSpPr>
          <p:cNvPr id="14" name="texto_149"/>
          <p:cNvSpPr txBox="1"/>
          <p:nvPr/>
        </p:nvSpPr>
        <p:spPr>
          <a:xfrm>
            <a:off x="548640" y="457200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 + 3) − (x² + 1) = −(x − 2)(x + 1) ≥ 0</a:t>
            </a:r>
            <a:endParaRPr lang="en-US" sz="2000" dirty="0"/>
          </a:p>
        </p:txBody>
      </p:sp>
      <p:sp>
        <p:nvSpPr>
          <p:cNvPr id="15" name="texto_150"/>
          <p:cNvSpPr txBox="1"/>
          <p:nvPr/>
        </p:nvSpPr>
        <p:spPr>
          <a:xfrm>
            <a:off x="548640" y="50749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porque en [−1, 2] el factor (x − 2) es ≤ 0 y (x + 1) es ≥ 0.</a:t>
            </a:r>
            <a:endParaRPr lang="en-US" sz="1400" dirty="0"/>
          </a:p>
        </p:txBody>
      </p:sp>
      <p:sp>
        <p:nvSpPr>
          <p:cNvPr id="16" name="tarjeta_151"/>
          <p:cNvSpPr/>
          <p:nvPr/>
        </p:nvSpPr>
        <p:spPr>
          <a:xfrm>
            <a:off x="6949440" y="1554480"/>
            <a:ext cx="4663440" cy="1234440"/>
          </a:xfrm>
          <a:prstGeom prst="roundRect">
            <a:avLst>
              <a:gd name="adj" fmla="val 8889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7" name="texto_152"/>
          <p:cNvSpPr txBox="1"/>
          <p:nvPr/>
        </p:nvSpPr>
        <p:spPr>
          <a:xfrm>
            <a:off x="7178040" y="169164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Superior: f(x) = x + 3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Será el radio exterior R(x)</a:t>
            </a:r>
            <a:endParaRPr lang="en-US" sz="1800" dirty="0"/>
          </a:p>
        </p:txBody>
      </p:sp>
      <p:sp>
        <p:nvSpPr>
          <p:cNvPr id="18" name="tarjeta_153"/>
          <p:cNvSpPr/>
          <p:nvPr/>
        </p:nvSpPr>
        <p:spPr>
          <a:xfrm>
            <a:off x="6949440" y="2971800"/>
            <a:ext cx="4663440" cy="1234440"/>
          </a:xfrm>
          <a:prstGeom prst="roundRect">
            <a:avLst>
              <a:gd name="adj" fmla="val 8889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19" name="texto_154"/>
          <p:cNvSpPr txBox="1"/>
          <p:nvPr/>
        </p:nvSpPr>
        <p:spPr>
          <a:xfrm>
            <a:off x="7178040" y="3108960"/>
            <a:ext cx="4206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Inferior: g(x) = x² + 1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Será el radio interior r(x)</a:t>
            </a:r>
            <a:endParaRPr lang="en-US" sz="1800" dirty="0"/>
          </a:p>
        </p:txBody>
      </p:sp>
      <p:sp>
        <p:nvSpPr>
          <p:cNvPr id="20" name="tarjeta_155"/>
          <p:cNvSpPr/>
          <p:nvPr/>
        </p:nvSpPr>
        <p:spPr>
          <a:xfrm>
            <a:off x="6949440" y="4389120"/>
            <a:ext cx="4663440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o_156"/>
          <p:cNvSpPr txBox="1"/>
          <p:nvPr/>
        </p:nvSpPr>
        <p:spPr>
          <a:xfrm>
            <a:off x="7178040" y="4526280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6"/>
                </a:solidFill>
              </a:rPr>
              <a:t>¿Por qué arandelas?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x² + 1 ≥ 1 &gt; 0: la región nunca toca el eje X. Al girar queda un hueco en el centro del sólido.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PROBLEMA PRINCIPAL · INCISO 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Paso 4: radios y área de la arandela</a:t>
            </a:r>
            <a:endParaRPr lang="en-US" sz="3200" dirty="0"/>
          </a:p>
        </p:txBody>
      </p:sp>
      <p:sp>
        <p:nvSpPr>
          <p:cNvPr id="4" name="texto_157"/>
          <p:cNvSpPr txBox="1"/>
          <p:nvPr/>
        </p:nvSpPr>
        <p:spPr>
          <a:xfrm>
            <a:off x="7507224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Paso 4 de 6: radios</a:t>
            </a:r>
            <a:endParaRPr lang="en-US" sz="1100" dirty="0"/>
          </a:p>
        </p:txBody>
      </p:sp>
      <p:sp>
        <p:nvSpPr>
          <p:cNvPr id="5" name="progreso_158"/>
          <p:cNvSpPr/>
          <p:nvPr/>
        </p:nvSpPr>
        <p:spPr>
          <a:xfrm>
            <a:off x="9884664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rogreso_159"/>
          <p:cNvSpPr/>
          <p:nvPr/>
        </p:nvSpPr>
        <p:spPr>
          <a:xfrm>
            <a:off x="10177272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rogreso_160"/>
          <p:cNvSpPr/>
          <p:nvPr/>
        </p:nvSpPr>
        <p:spPr>
          <a:xfrm>
            <a:off x="10469880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rogreso_161"/>
          <p:cNvSpPr/>
          <p:nvPr/>
        </p:nvSpPr>
        <p:spPr>
          <a:xfrm>
            <a:off x="10762488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rogreso_162"/>
          <p:cNvSpPr/>
          <p:nvPr/>
        </p:nvSpPr>
        <p:spPr>
          <a:xfrm>
            <a:off x="11055096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rogreso_163"/>
          <p:cNvSpPr/>
          <p:nvPr/>
        </p:nvSpPr>
        <p:spPr>
          <a:xfrm>
            <a:off x="11347704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n_164" descr="Sección transversal en x = 0.5: arandela con R = 3.5 y r = 1.2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08760"/>
            <a:ext cx="4480560" cy="4480560"/>
          </a:xfrm>
          <a:prstGeom prst="rect">
            <a:avLst/>
          </a:prstGeom>
        </p:spPr>
      </p:pic>
      <p:sp>
        <p:nvSpPr>
          <p:cNvPr id="12" name="texto_165"/>
          <p:cNvSpPr txBox="1"/>
          <p:nvPr/>
        </p:nvSpPr>
        <p:spPr>
          <a:xfrm>
            <a:off x="5394960" y="155448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Al girar, cada punto de la región describe un círculo alrededor del eje X. Si cortamos el sólido en una posición x, la sección es una arandela:</a:t>
            </a:r>
            <a:endParaRPr lang="en-US" sz="1600" dirty="0"/>
          </a:p>
        </p:txBody>
      </p:sp>
      <p:sp>
        <p:nvSpPr>
          <p:cNvPr id="13" name="circulo_166"/>
          <p:cNvSpPr/>
          <p:nvPr/>
        </p:nvSpPr>
        <p:spPr>
          <a:xfrm>
            <a:off x="5394960" y="2624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ero_167"/>
          <p:cNvSpPr txBox="1"/>
          <p:nvPr/>
        </p:nvSpPr>
        <p:spPr>
          <a:xfrm>
            <a:off x="539496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5" name="texto_168"/>
          <p:cNvSpPr txBox="1"/>
          <p:nvPr/>
        </p:nvSpPr>
        <p:spPr>
          <a:xfrm>
            <a:off x="5943600" y="26060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Radio exterior: distancia del eje X a la curva de arriba</a:t>
            </a:r>
            <a:endParaRPr lang="en-US" sz="1600" dirty="0"/>
          </a:p>
        </p:txBody>
      </p:sp>
      <p:sp>
        <p:nvSpPr>
          <p:cNvPr id="16" name="texto_169"/>
          <p:cNvSpPr txBox="1"/>
          <p:nvPr/>
        </p:nvSpPr>
        <p:spPr>
          <a:xfrm>
            <a:off x="5943600" y="29718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R(x) = x + 3</a:t>
            </a:r>
            <a:endParaRPr lang="en-US" sz="2000" dirty="0"/>
          </a:p>
        </p:txBody>
      </p:sp>
      <p:sp>
        <p:nvSpPr>
          <p:cNvPr id="17" name="circulo_170"/>
          <p:cNvSpPr/>
          <p:nvPr/>
        </p:nvSpPr>
        <p:spPr>
          <a:xfrm>
            <a:off x="5394960" y="35387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ero_171"/>
          <p:cNvSpPr txBox="1"/>
          <p:nvPr/>
        </p:nvSpPr>
        <p:spPr>
          <a:xfrm>
            <a:off x="5394960" y="35387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9" name="texto_172"/>
          <p:cNvSpPr txBox="1"/>
          <p:nvPr/>
        </p:nvSpPr>
        <p:spPr>
          <a:xfrm>
            <a:off x="5943600" y="3520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Radio interior: distancia del eje X a la curva de abajo</a:t>
            </a:r>
            <a:endParaRPr lang="en-US" sz="1600" dirty="0"/>
          </a:p>
        </p:txBody>
      </p:sp>
      <p:sp>
        <p:nvSpPr>
          <p:cNvPr id="20" name="texto_173"/>
          <p:cNvSpPr txBox="1"/>
          <p:nvPr/>
        </p:nvSpPr>
        <p:spPr>
          <a:xfrm>
            <a:off x="5943600" y="38862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r(x) = x² + 1</a:t>
            </a:r>
            <a:endParaRPr lang="en-US" sz="2000" dirty="0"/>
          </a:p>
        </p:txBody>
      </p:sp>
      <p:sp>
        <p:nvSpPr>
          <p:cNvPr id="21" name="circulo_174"/>
          <p:cNvSpPr/>
          <p:nvPr/>
        </p:nvSpPr>
        <p:spPr>
          <a:xfrm>
            <a:off x="5394960" y="44531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ero_175"/>
          <p:cNvSpPr txBox="1"/>
          <p:nvPr/>
        </p:nvSpPr>
        <p:spPr>
          <a:xfrm>
            <a:off x="539496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3" name="texto_176"/>
          <p:cNvSpPr txBox="1"/>
          <p:nvPr/>
        </p:nvSpPr>
        <p:spPr>
          <a:xfrm>
            <a:off x="5943600" y="44348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Área = círculo grande − hueco:</a:t>
            </a:r>
            <a:endParaRPr lang="en-US" sz="1600" dirty="0"/>
          </a:p>
        </p:txBody>
      </p:sp>
      <p:sp>
        <p:nvSpPr>
          <p:cNvPr id="24" name="texto_177"/>
          <p:cNvSpPr txBox="1"/>
          <p:nvPr/>
        </p:nvSpPr>
        <p:spPr>
          <a:xfrm>
            <a:off x="5943600" y="480060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A(x) = πR² − πr² = π[(x + 3)² − (x² + 1)²]</a:t>
            </a:r>
            <a:endParaRPr lang="en-US" sz="2000" dirty="0"/>
          </a:p>
        </p:txBody>
      </p:sp>
      <p:sp>
        <p:nvSpPr>
          <p:cNvPr id="25" name="tarjeta_178"/>
          <p:cNvSpPr/>
          <p:nvPr/>
        </p:nvSpPr>
        <p:spPr>
          <a:xfrm>
            <a:off x="5394960" y="5440680"/>
            <a:ext cx="6217920" cy="685800"/>
          </a:xfrm>
          <a:prstGeom prst="roundRect">
            <a:avLst>
              <a:gd name="adj" fmla="val 16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26" name="texto_179"/>
          <p:cNvSpPr txBox="1"/>
          <p:nvPr/>
        </p:nvSpPr>
        <p:spPr>
          <a:xfrm>
            <a:off x="5623560" y="5550408"/>
            <a:ext cx="576072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Ejemplo en x = 0.5:  R = 3.5,  r = 1.25  →  A = π(12.25 − 1.5625) ≈ 33.58 u²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PROBLEMA PRINCIPAL · INCISO 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Paso 5: plantear y simplificar la integral</a:t>
            </a:r>
            <a:endParaRPr lang="en-US" sz="3200" dirty="0"/>
          </a:p>
        </p:txBody>
      </p:sp>
      <p:sp>
        <p:nvSpPr>
          <p:cNvPr id="4" name="texto_180"/>
          <p:cNvSpPr txBox="1"/>
          <p:nvPr/>
        </p:nvSpPr>
        <p:spPr>
          <a:xfrm>
            <a:off x="7507224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Paso 5 de 6: integral</a:t>
            </a:r>
            <a:endParaRPr lang="en-US" sz="1100" dirty="0"/>
          </a:p>
        </p:txBody>
      </p:sp>
      <p:sp>
        <p:nvSpPr>
          <p:cNvPr id="5" name="progreso_181"/>
          <p:cNvSpPr/>
          <p:nvPr/>
        </p:nvSpPr>
        <p:spPr>
          <a:xfrm>
            <a:off x="9884664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rogreso_182"/>
          <p:cNvSpPr/>
          <p:nvPr/>
        </p:nvSpPr>
        <p:spPr>
          <a:xfrm>
            <a:off x="10177272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rogreso_183"/>
          <p:cNvSpPr/>
          <p:nvPr/>
        </p:nvSpPr>
        <p:spPr>
          <a:xfrm>
            <a:off x="10469880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rogreso_184"/>
          <p:cNvSpPr/>
          <p:nvPr/>
        </p:nvSpPr>
        <p:spPr>
          <a:xfrm>
            <a:off x="10762488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rogreso_185"/>
          <p:cNvSpPr/>
          <p:nvPr/>
        </p:nvSpPr>
        <p:spPr>
          <a:xfrm>
            <a:off x="11055096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rogreso_186"/>
          <p:cNvSpPr/>
          <p:nvPr/>
        </p:nvSpPr>
        <p:spPr>
          <a:xfrm>
            <a:off x="11347704" y="301752"/>
            <a:ext cx="201168" cy="201168"/>
          </a:xfrm>
          <a:prstGeom prst="ellipse">
            <a:avLst/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o_187"/>
          <p:cNvSpPr txBox="1"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Cada rebanada tiene grosor dx, así que su volumen es dV = A(x) dx. Sumamos todas las rebanadas desde x = −1 hasta x = 2:</a:t>
            </a:r>
            <a:endParaRPr lang="en-US" sz="1600" dirty="0"/>
          </a:p>
        </p:txBody>
      </p:sp>
      <p:sp>
        <p:nvSpPr>
          <p:cNvPr id="12" name="tarjeta_188"/>
          <p:cNvSpPr/>
          <p:nvPr/>
        </p:nvSpPr>
        <p:spPr>
          <a:xfrm>
            <a:off x="548640" y="224028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3" name="texto_189"/>
          <p:cNvSpPr txBox="1"/>
          <p:nvPr/>
        </p:nvSpPr>
        <p:spPr>
          <a:xfrm>
            <a:off x="822960" y="237744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π ∫₋₁² [ (x + 3)² − (x² + 1)² ] dx</a:t>
            </a:r>
            <a:endParaRPr lang="en-US" sz="2800" dirty="0"/>
          </a:p>
        </p:txBody>
      </p:sp>
      <p:sp>
        <p:nvSpPr>
          <p:cNvPr id="14" name="circulo_190"/>
          <p:cNvSpPr/>
          <p:nvPr/>
        </p:nvSpPr>
        <p:spPr>
          <a:xfrm>
            <a:off x="548640" y="3355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ero_191"/>
          <p:cNvSpPr txBox="1"/>
          <p:nvPr/>
        </p:nvSpPr>
        <p:spPr>
          <a:xfrm>
            <a:off x="54864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6" name="texto_192"/>
          <p:cNvSpPr txBox="1"/>
          <p:nvPr/>
        </p:nvSpPr>
        <p:spPr>
          <a:xfrm>
            <a:off x="1097280" y="3337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Desarrollamos el primer cuadrado (binomio al cuadrado):</a:t>
            </a:r>
            <a:endParaRPr lang="en-US" sz="1600" dirty="0"/>
          </a:p>
        </p:txBody>
      </p:sp>
      <p:sp>
        <p:nvSpPr>
          <p:cNvPr id="17" name="texto_193"/>
          <p:cNvSpPr txBox="1"/>
          <p:nvPr/>
        </p:nvSpPr>
        <p:spPr>
          <a:xfrm>
            <a:off x="1097280" y="3703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 + 3)² = x² + 6x + 9</a:t>
            </a:r>
            <a:endParaRPr lang="en-US" sz="2000" dirty="0"/>
          </a:p>
        </p:txBody>
      </p:sp>
      <p:sp>
        <p:nvSpPr>
          <p:cNvPr id="18" name="circulo_194"/>
          <p:cNvSpPr/>
          <p:nvPr/>
        </p:nvSpPr>
        <p:spPr>
          <a:xfrm>
            <a:off x="548640" y="4270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ero_195"/>
          <p:cNvSpPr txBox="1"/>
          <p:nvPr/>
        </p:nvSpPr>
        <p:spPr>
          <a:xfrm>
            <a:off x="54864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20" name="texto_196"/>
          <p:cNvSpPr txBox="1"/>
          <p:nvPr/>
        </p:nvSpPr>
        <p:spPr>
          <a:xfrm>
            <a:off x="1097280" y="4251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Desarrollamos el segundo cuadrado:</a:t>
            </a:r>
            <a:endParaRPr lang="en-US" sz="1600" dirty="0"/>
          </a:p>
        </p:txBody>
      </p:sp>
      <p:sp>
        <p:nvSpPr>
          <p:cNvPr id="21" name="texto_197"/>
          <p:cNvSpPr txBox="1"/>
          <p:nvPr/>
        </p:nvSpPr>
        <p:spPr>
          <a:xfrm>
            <a:off x="1097280" y="4617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(x² + 1)² = x⁴ + 2x² + 1</a:t>
            </a:r>
            <a:endParaRPr lang="en-US" sz="2000" dirty="0"/>
          </a:p>
        </p:txBody>
      </p:sp>
      <p:sp>
        <p:nvSpPr>
          <p:cNvPr id="22" name="circulo_198"/>
          <p:cNvSpPr/>
          <p:nvPr/>
        </p:nvSpPr>
        <p:spPr>
          <a:xfrm>
            <a:off x="6309360" y="33558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numero_199"/>
          <p:cNvSpPr txBox="1"/>
          <p:nvPr/>
        </p:nvSpPr>
        <p:spPr>
          <a:xfrm>
            <a:off x="6309360" y="33558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4" name="texto_200"/>
          <p:cNvSpPr txBox="1"/>
          <p:nvPr/>
        </p:nvSpPr>
        <p:spPr>
          <a:xfrm>
            <a:off x="6858000" y="33375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Restamos (el signo menos cambia todos los términos):</a:t>
            </a:r>
            <a:endParaRPr lang="en-US" sz="1600" dirty="0"/>
          </a:p>
        </p:txBody>
      </p:sp>
      <p:sp>
        <p:nvSpPr>
          <p:cNvPr id="25" name="texto_201"/>
          <p:cNvSpPr txBox="1"/>
          <p:nvPr/>
        </p:nvSpPr>
        <p:spPr>
          <a:xfrm>
            <a:off x="6858000" y="3703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x² + 6x + 9 − x⁴ − 2x² − 1</a:t>
            </a:r>
            <a:endParaRPr lang="en-US" sz="2000" dirty="0"/>
          </a:p>
        </p:txBody>
      </p:sp>
      <p:sp>
        <p:nvSpPr>
          <p:cNvPr id="26" name="circulo_202"/>
          <p:cNvSpPr/>
          <p:nvPr/>
        </p:nvSpPr>
        <p:spPr>
          <a:xfrm>
            <a:off x="6309360" y="4270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numero_203"/>
          <p:cNvSpPr txBox="1"/>
          <p:nvPr/>
        </p:nvSpPr>
        <p:spPr>
          <a:xfrm>
            <a:off x="6309360" y="4270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8" name="texto_204"/>
          <p:cNvSpPr txBox="1"/>
          <p:nvPr/>
        </p:nvSpPr>
        <p:spPr>
          <a:xfrm>
            <a:off x="6858000" y="4251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Agrupamos términos semejantes:</a:t>
            </a:r>
            <a:endParaRPr lang="en-US" sz="1600" dirty="0"/>
          </a:p>
        </p:txBody>
      </p:sp>
      <p:sp>
        <p:nvSpPr>
          <p:cNvPr id="29" name="texto_205"/>
          <p:cNvSpPr txBox="1"/>
          <p:nvPr/>
        </p:nvSpPr>
        <p:spPr>
          <a:xfrm>
            <a:off x="6858000" y="46177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−x⁴ − x² + 6x + 8</a:t>
            </a:r>
            <a:endParaRPr lang="en-US" sz="2000" dirty="0"/>
          </a:p>
        </p:txBody>
      </p:sp>
      <p:sp>
        <p:nvSpPr>
          <p:cNvPr id="30" name="tarjeta_206"/>
          <p:cNvSpPr/>
          <p:nvPr/>
        </p:nvSpPr>
        <p:spPr>
          <a:xfrm>
            <a:off x="548640" y="5257800"/>
            <a:ext cx="6766560" cy="868680"/>
          </a:xfrm>
          <a:prstGeom prst="roundRect">
            <a:avLst>
              <a:gd name="adj" fmla="val 1263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o_207"/>
          <p:cNvSpPr txBox="1"/>
          <p:nvPr/>
        </p:nvSpPr>
        <p:spPr>
          <a:xfrm>
            <a:off x="777240" y="539496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π ∫₋₁² ( −x⁴ − x² + 6x + 8 ) dx</a:t>
            </a:r>
            <a:endParaRPr lang="en-US" sz="2400" dirty="0"/>
          </a:p>
        </p:txBody>
      </p:sp>
      <p:sp>
        <p:nvSpPr>
          <p:cNvPr id="32" name="tarjeta_208"/>
          <p:cNvSpPr/>
          <p:nvPr/>
        </p:nvSpPr>
        <p:spPr>
          <a:xfrm>
            <a:off x="7498080" y="5257800"/>
            <a:ext cx="4114800" cy="868680"/>
          </a:xfrm>
          <a:prstGeom prst="roundRect">
            <a:avLst>
              <a:gd name="adj" fmla="val 12632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33" name="texto_209"/>
          <p:cNvSpPr txBox="1"/>
          <p:nvPr/>
        </p:nvSpPr>
        <p:spPr>
          <a:xfrm>
            <a:off x="7726680" y="5367528"/>
            <a:ext cx="365760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Cuidado: se restan los cuadrados, R² − r². No es lo mismo que (R − r)².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PROBLEMA PRINCIPAL · INCISO 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Paso 6: antiderivada y evaluación</a:t>
            </a:r>
            <a:endParaRPr lang="en-US" sz="3200" dirty="0"/>
          </a:p>
        </p:txBody>
      </p:sp>
      <p:sp>
        <p:nvSpPr>
          <p:cNvPr id="4" name="texto_210"/>
          <p:cNvSpPr txBox="1"/>
          <p:nvPr/>
        </p:nvSpPr>
        <p:spPr>
          <a:xfrm>
            <a:off x="7507224" y="274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Paso 6 de 6: resolver</a:t>
            </a:r>
            <a:endParaRPr lang="en-US" sz="1100" dirty="0"/>
          </a:p>
        </p:txBody>
      </p:sp>
      <p:sp>
        <p:nvSpPr>
          <p:cNvPr id="5" name="progreso_211"/>
          <p:cNvSpPr/>
          <p:nvPr/>
        </p:nvSpPr>
        <p:spPr>
          <a:xfrm>
            <a:off x="9884664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progreso_212"/>
          <p:cNvSpPr/>
          <p:nvPr/>
        </p:nvSpPr>
        <p:spPr>
          <a:xfrm>
            <a:off x="10177272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progreso_213"/>
          <p:cNvSpPr/>
          <p:nvPr/>
        </p:nvSpPr>
        <p:spPr>
          <a:xfrm>
            <a:off x="10469880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progreso_214"/>
          <p:cNvSpPr/>
          <p:nvPr/>
        </p:nvSpPr>
        <p:spPr>
          <a:xfrm>
            <a:off x="10762488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progreso_215"/>
          <p:cNvSpPr/>
          <p:nvPr/>
        </p:nvSpPr>
        <p:spPr>
          <a:xfrm>
            <a:off x="11055096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progreso_216"/>
          <p:cNvSpPr/>
          <p:nvPr/>
        </p:nvSpPr>
        <p:spPr>
          <a:xfrm>
            <a:off x="11347704" y="301752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o_217"/>
          <p:cNvSpPr txBox="1"/>
          <p:nvPr/>
        </p:nvSpPr>
        <p:spPr>
          <a:xfrm>
            <a:off x="54864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Integramos término a término con ∫ xⁿ dx = xⁿ⁺¹ / (n + 1):</a:t>
            </a:r>
            <a:endParaRPr lang="en-US" sz="1600" dirty="0"/>
          </a:p>
        </p:txBody>
      </p:sp>
      <p:graphicFrame>
        <p:nvGraphicFramePr>
          <p:cNvPr id="12" name="tabla_2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5120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Término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bg1"/>
                          </a:solidFill>
                        </a:rPr>
                        <a:t>Antiderivada</a:t>
                      </a:r>
                      <a:endParaRPr lang="en-US" sz="17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−x⁴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−x⁵ / 5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−x²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−x³ / 3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6x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3x²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8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8x</a:t>
                      </a:r>
                      <a:endParaRPr lang="en-US" sz="1700" dirty="0">
                        <a:latin typeface="Cambria Math" charset="0"/>
                        <a:ea typeface="Cambria Math" charset="0"/>
                        <a:cs typeface="Cambria Math" charset="0"/>
                      </a:endParaRPr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13" name="tarjeta_219"/>
          <p:cNvSpPr/>
          <p:nvPr/>
        </p:nvSpPr>
        <p:spPr>
          <a:xfrm>
            <a:off x="548640" y="4343400"/>
            <a:ext cx="5120640" cy="82296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4" name="texto_220"/>
          <p:cNvSpPr txBox="1"/>
          <p:nvPr/>
        </p:nvSpPr>
        <p:spPr>
          <a:xfrm>
            <a:off x="731520" y="4498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= −x⁵/5 − x³/3 + 3x² + 8x</a:t>
            </a:r>
            <a:endParaRPr lang="en-US" sz="2200" dirty="0"/>
          </a:p>
        </p:txBody>
      </p:sp>
      <p:sp>
        <p:nvSpPr>
          <p:cNvPr id="15" name="tarjeta_221"/>
          <p:cNvSpPr/>
          <p:nvPr/>
        </p:nvSpPr>
        <p:spPr>
          <a:xfrm>
            <a:off x="6035040" y="1554480"/>
            <a:ext cx="55778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o_222"/>
          <p:cNvSpPr txBox="1"/>
          <p:nvPr/>
        </p:nvSpPr>
        <p:spPr>
          <a:xfrm>
            <a:off x="6263640" y="16459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Evaluamos en b = 2 (denominador común 15)</a:t>
            </a:r>
            <a:endParaRPr lang="en-US" sz="1500" dirty="0"/>
          </a:p>
        </p:txBody>
      </p:sp>
      <p:sp>
        <p:nvSpPr>
          <p:cNvPr id="17" name="texto_223"/>
          <p:cNvSpPr txBox="1"/>
          <p:nvPr/>
        </p:nvSpPr>
        <p:spPr>
          <a:xfrm>
            <a:off x="6263640" y="196596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F(2) = −32/5 − 8/3 + 12 + 16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(−96 − 40 + 420)/15 = 284/15</a:t>
            </a:r>
            <a:endParaRPr lang="en-US" sz="1900" dirty="0"/>
          </a:p>
        </p:txBody>
      </p:sp>
      <p:sp>
        <p:nvSpPr>
          <p:cNvPr id="18" name="tarjeta_224"/>
          <p:cNvSpPr/>
          <p:nvPr/>
        </p:nvSpPr>
        <p:spPr>
          <a:xfrm>
            <a:off x="6035040" y="3108960"/>
            <a:ext cx="5577840" cy="1417320"/>
          </a:xfrm>
          <a:prstGeom prst="roundRect">
            <a:avLst>
              <a:gd name="adj" fmla="val 77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o_225"/>
          <p:cNvSpPr txBox="1"/>
          <p:nvPr/>
        </p:nvSpPr>
        <p:spPr>
          <a:xfrm>
            <a:off x="6263640" y="3200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Evaluamos en a = −1 (cuidado con los signos)</a:t>
            </a:r>
            <a:endParaRPr lang="en-US" sz="1500" dirty="0"/>
          </a:p>
        </p:txBody>
      </p:sp>
      <p:sp>
        <p:nvSpPr>
          <p:cNvPr id="20" name="texto_226"/>
          <p:cNvSpPr txBox="1"/>
          <p:nvPr/>
        </p:nvSpPr>
        <p:spPr>
          <a:xfrm>
            <a:off x="6263640" y="352044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F(−1) = 1/5 + 1/3 + 3 − 8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(3 + 5 + 45 − 120)/15 = −67/15</a:t>
            </a:r>
            <a:endParaRPr lang="en-US" sz="1900" dirty="0"/>
          </a:p>
        </p:txBody>
      </p:sp>
      <p:sp>
        <p:nvSpPr>
          <p:cNvPr id="21" name="tarjeta_227"/>
          <p:cNvSpPr/>
          <p:nvPr/>
        </p:nvSpPr>
        <p:spPr>
          <a:xfrm>
            <a:off x="6035040" y="4663440"/>
            <a:ext cx="5577840" cy="1463040"/>
          </a:xfrm>
          <a:prstGeom prst="roundRect">
            <a:avLst>
              <a:gd name="adj" fmla="val 75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2" name="texto_228"/>
          <p:cNvSpPr txBox="1"/>
          <p:nvPr/>
        </p:nvSpPr>
        <p:spPr>
          <a:xfrm>
            <a:off x="6263640" y="47548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Restamos: F(b) − F(a)</a:t>
            </a:r>
            <a:endParaRPr lang="en-US" sz="1500" dirty="0"/>
          </a:p>
        </p:txBody>
      </p:sp>
      <p:sp>
        <p:nvSpPr>
          <p:cNvPr id="23" name="texto_229"/>
          <p:cNvSpPr txBox="1"/>
          <p:nvPr/>
        </p:nvSpPr>
        <p:spPr>
          <a:xfrm>
            <a:off x="6263640" y="5074920"/>
            <a:ext cx="5212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284/15 − (−67/15) = 351/15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117/5 = 23.4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PROBLEMA PRINCIPAL · RESULTADO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Volumen del sólido</a:t>
            </a:r>
            <a:endParaRPr lang="en-US" sz="3200" dirty="0"/>
          </a:p>
        </p:txBody>
      </p:sp>
      <p:sp>
        <p:nvSpPr>
          <p:cNvPr id="4" name="tarjeta_230"/>
          <p:cNvSpPr/>
          <p:nvPr/>
        </p:nvSpPr>
        <p:spPr>
          <a:xfrm>
            <a:off x="548640" y="1600200"/>
            <a:ext cx="6035040" cy="4206240"/>
          </a:xfrm>
          <a:prstGeom prst="roundRect">
            <a:avLst>
              <a:gd name="adj" fmla="val 2609"/>
            </a:avLst>
          </a:prstGeom>
          <a:solidFill>
            <a:srgbClr val="1E3157"/>
          </a:solidFill>
          <a:ln w="12700">
            <a:solidFill>
              <a:srgbClr val="1E3157"/>
            </a:solidFill>
            <a:prstDash val="solid"/>
          </a:ln>
        </p:spPr>
      </p:sp>
      <p:sp>
        <p:nvSpPr>
          <p:cNvPr id="5" name="texto_231"/>
          <p:cNvSpPr txBox="1"/>
          <p:nvPr/>
        </p:nvSpPr>
        <p:spPr>
          <a:xfrm>
            <a:off x="868680" y="1828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MULTIPLICAMOS POR π</a:t>
            </a:r>
            <a:endParaRPr lang="en-US" sz="1300" dirty="0"/>
          </a:p>
        </p:txBody>
      </p:sp>
      <p:sp>
        <p:nvSpPr>
          <p:cNvPr id="6" name="texto_232"/>
          <p:cNvSpPr txBox="1"/>
          <p:nvPr/>
        </p:nvSpPr>
        <p:spPr>
          <a:xfrm>
            <a:off x="868680" y="23774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117π / 5</a:t>
            </a:r>
            <a:endParaRPr lang="en-US" sz="6000" dirty="0"/>
          </a:p>
        </p:txBody>
      </p:sp>
      <p:sp>
        <p:nvSpPr>
          <p:cNvPr id="7" name="texto_233"/>
          <p:cNvSpPr txBox="1"/>
          <p:nvPr/>
        </p:nvSpPr>
        <p:spPr>
          <a:xfrm>
            <a:off x="868680" y="3657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73.51 u³</a:t>
            </a:r>
            <a:endParaRPr lang="en-US" sz="5400" dirty="0"/>
          </a:p>
        </p:txBody>
      </p:sp>
      <p:sp>
        <p:nvSpPr>
          <p:cNvPr id="8" name="texto_234"/>
          <p:cNvSpPr txBox="1"/>
          <p:nvPr/>
        </p:nvSpPr>
        <p:spPr>
          <a:xfrm>
            <a:off x="86868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unidades cúbicas</a:t>
            </a:r>
            <a:endParaRPr lang="en-US" sz="1600" dirty="0"/>
          </a:p>
        </p:txBody>
      </p:sp>
      <p:sp>
        <p:nvSpPr>
          <p:cNvPr id="9" name="texto_235"/>
          <p:cNvSpPr txBox="1"/>
          <p:nvPr/>
        </p:nvSpPr>
        <p:spPr>
          <a:xfrm>
            <a:off x="7040880" y="1600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Comprobaciones</a:t>
            </a:r>
            <a:endParaRPr lang="en-US" sz="2000" dirty="0"/>
          </a:p>
        </p:txBody>
      </p:sp>
      <p:sp>
        <p:nvSpPr>
          <p:cNvPr id="10" name="circulo_236"/>
          <p:cNvSpPr/>
          <p:nvPr/>
        </p:nvSpPr>
        <p:spPr>
          <a:xfrm>
            <a:off x="7040880" y="21671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numero_237"/>
          <p:cNvSpPr txBox="1"/>
          <p:nvPr/>
        </p:nvSpPr>
        <p:spPr>
          <a:xfrm>
            <a:off x="7040880" y="2167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2" name="texto_238"/>
          <p:cNvSpPr txBox="1"/>
          <p:nvPr/>
        </p:nvSpPr>
        <p:spPr>
          <a:xfrm>
            <a:off x="7589520" y="2148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Simulador (mismo problema):</a:t>
            </a:r>
            <a:endParaRPr lang="en-US" sz="1600" dirty="0"/>
          </a:p>
        </p:txBody>
      </p:sp>
      <p:sp>
        <p:nvSpPr>
          <p:cNvPr id="13" name="texto_239"/>
          <p:cNvSpPr txBox="1"/>
          <p:nvPr/>
        </p:nvSpPr>
        <p:spPr>
          <a:xfrm>
            <a:off x="7589520" y="25146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73.5133 u³ ✓</a:t>
            </a:r>
            <a:endParaRPr lang="en-US" sz="2000" dirty="0"/>
          </a:p>
        </p:txBody>
      </p:sp>
      <p:sp>
        <p:nvSpPr>
          <p:cNvPr id="14" name="circulo_240"/>
          <p:cNvSpPr/>
          <p:nvPr/>
        </p:nvSpPr>
        <p:spPr>
          <a:xfrm>
            <a:off x="7040880" y="31729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numero_241"/>
          <p:cNvSpPr txBox="1"/>
          <p:nvPr/>
        </p:nvSpPr>
        <p:spPr>
          <a:xfrm>
            <a:off x="7040880" y="3172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6" name="texto_242"/>
          <p:cNvSpPr txBox="1"/>
          <p:nvPr/>
        </p:nvSpPr>
        <p:spPr>
          <a:xfrm>
            <a:off x="7589520" y="315468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Teorema de Pappus: área 4.5 u², centroide a 2.6 del eje</a:t>
            </a:r>
            <a:endParaRPr lang="en-US" sz="1600" dirty="0"/>
          </a:p>
        </p:txBody>
      </p:sp>
      <p:sp>
        <p:nvSpPr>
          <p:cNvPr id="17" name="texto_243"/>
          <p:cNvSpPr txBox="1"/>
          <p:nvPr/>
        </p:nvSpPr>
        <p:spPr>
          <a:xfrm>
            <a:off x="7589520" y="3749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2π · 2.6 · 4.5 = 23.4π ✓</a:t>
            </a:r>
            <a:endParaRPr lang="en-US" sz="2000" dirty="0"/>
          </a:p>
        </p:txBody>
      </p:sp>
      <p:sp>
        <p:nvSpPr>
          <p:cNvPr id="18" name="circulo_244"/>
          <p:cNvSpPr/>
          <p:nvPr/>
        </p:nvSpPr>
        <p:spPr>
          <a:xfrm>
            <a:off x="7040880" y="44531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numero_245"/>
          <p:cNvSpPr txBox="1"/>
          <p:nvPr/>
        </p:nvSpPr>
        <p:spPr>
          <a:xfrm>
            <a:off x="704088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o_246"/>
          <p:cNvSpPr txBox="1"/>
          <p:nvPr/>
        </p:nvSpPr>
        <p:spPr>
          <a:xfrm>
            <a:off x="7589520" y="44348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En la maqueta (escala 1 u = 2 cm, volumen × 8):</a:t>
            </a:r>
            <a:endParaRPr lang="en-US" sz="1600" dirty="0"/>
          </a:p>
        </p:txBody>
      </p:sp>
      <p:sp>
        <p:nvSpPr>
          <p:cNvPr id="21" name="texto_247"/>
          <p:cNvSpPr txBox="1"/>
          <p:nvPr/>
        </p:nvSpPr>
        <p:spPr>
          <a:xfrm>
            <a:off x="7589520" y="50292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≈ 588 cm³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PROBLEMA PRINCIPAL · VOLUMEN ACUMULADO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crece el volumen de a hasta x</a:t>
            </a:r>
            <a:endParaRPr lang="en-US" sz="3200" dirty="0"/>
          </a:p>
        </p:txBody>
      </p:sp>
      <p:pic>
        <p:nvPicPr>
          <p:cNvPr id="4" name="imagen_248" descr="Curva de volumen acumulado de −1 a 2, creciente en forma de S hasta 73.5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400800" cy="3685032"/>
          </a:xfrm>
          <a:prstGeom prst="rect">
            <a:avLst/>
          </a:prstGeom>
        </p:spPr>
      </p:pic>
      <p:sp>
        <p:nvSpPr>
          <p:cNvPr id="5" name="texto_249"/>
          <p:cNvSpPr txBox="1"/>
          <p:nvPr/>
        </p:nvSpPr>
        <p:spPr>
          <a:xfrm>
            <a:off x="7315200" y="155448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Volumen generado desde a = −1 hasta una posición x:</a:t>
            </a:r>
            <a:endParaRPr lang="en-US" sz="1600" dirty="0"/>
          </a:p>
        </p:txBody>
      </p:sp>
      <p:sp>
        <p:nvSpPr>
          <p:cNvPr id="6" name="texto_250"/>
          <p:cNvSpPr txBox="1"/>
          <p:nvPr/>
        </p:nvSpPr>
        <p:spPr>
          <a:xfrm>
            <a:off x="7315200" y="2148840"/>
            <a:ext cx="4297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V_acum(x) = π[F(x) − F(−1)]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 π(−x⁵/5 − x³/3 + 3x² + 8x + 67/15)</a:t>
            </a:r>
            <a:endParaRPr lang="en-US" sz="1700" dirty="0"/>
          </a:p>
        </p:txBody>
      </p:sp>
      <p:graphicFrame>
        <p:nvGraphicFramePr>
          <p:cNvPr id="14" name="tabla_25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3246120"/>
          <a:ext cx="429768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46304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V_acum(x)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Significado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−1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inicio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28.80 u³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39 % del total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73.51 u³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volumen total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8" name="tarjeta_252"/>
          <p:cNvSpPr/>
          <p:nvPr/>
        </p:nvSpPr>
        <p:spPr>
          <a:xfrm>
            <a:off x="548640" y="544068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9" name="texto_253"/>
          <p:cNvSpPr txBox="1"/>
          <p:nvPr/>
        </p:nvSpPr>
        <p:spPr>
          <a:xfrm>
            <a:off x="777240" y="555040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Su derivada es el área de la arandela: dV_acum/dx = A(x). Crece más rápido en x = 1, donde A(1) = 12π ≈ 37.70 u².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2011680"/>
            <a:ext cx="10058400" cy="4572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chemeClr val="accent6"/>
                </a:solidFill>
              </a:rPr>
              <a:t>CONFIGURACIONES DE VALIDACIÓN</a:t>
            </a:r>
            <a:endParaRPr lang="en-US" sz="16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251460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Tres problemas más, uno por método</a:t>
            </a:r>
            <a:endParaRPr lang="en-US" sz="44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40080" y="374904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</a:rPr>
              <a:t>Discos (eje X), arandelas (eje X) y capas cilíndricas (eje Y), resueltos con los mismos 6 pasos.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CONFIGURACIÓN 1 · MÉTODO DEL DISCO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Planteamiento: f(x) = √x en [0, 4]</a:t>
            </a:r>
            <a:endParaRPr lang="en-US" sz="3200" dirty="0"/>
          </a:p>
        </p:txBody>
      </p:sp>
      <p:pic>
        <p:nvPicPr>
          <p:cNvPr id="4" name="imagen_254" descr="Región bajo y = √x entre 0 y 4 sobre el eje 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023360" cy="3721608"/>
          </a:xfrm>
          <a:prstGeom prst="rect">
            <a:avLst/>
          </a:prstGeom>
        </p:spPr>
      </p:pic>
      <p:graphicFrame>
        <p:nvGraphicFramePr>
          <p:cNvPr id="16" name="tabla_2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54480"/>
          <a:ext cx="67665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754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Dato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Valor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Funciones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f(x) = √x,  g(x) = 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Intervalo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[0, 4] (dado)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Método y eje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Discos · eje 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6" name="circulo_256"/>
          <p:cNvSpPr/>
          <p:nvPr/>
        </p:nvSpPr>
        <p:spPr>
          <a:xfrm>
            <a:off x="4846320" y="30815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" name="numero_257"/>
          <p:cNvSpPr txBox="1"/>
          <p:nvPr/>
        </p:nvSpPr>
        <p:spPr>
          <a:xfrm>
            <a:off x="4846320" y="3081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o_258"/>
          <p:cNvSpPr txBox="1"/>
          <p:nvPr/>
        </p:nvSpPr>
        <p:spPr>
          <a:xfrm>
            <a:off x="5394960" y="30632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Verificamos la condición: √x ≥ 0 = g(x) en todo [0, 4] ✓</a:t>
            </a:r>
            <a:endParaRPr lang="en-US" sz="1600" dirty="0"/>
          </a:p>
        </p:txBody>
      </p:sp>
      <p:sp>
        <p:nvSpPr>
          <p:cNvPr id="9" name="circulo_259"/>
          <p:cNvSpPr/>
          <p:nvPr/>
        </p:nvSpPr>
        <p:spPr>
          <a:xfrm>
            <a:off x="4846320" y="3630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ero_260"/>
          <p:cNvSpPr txBox="1"/>
          <p:nvPr/>
        </p:nvSpPr>
        <p:spPr>
          <a:xfrm>
            <a:off x="484632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o_261"/>
          <p:cNvSpPr txBox="1"/>
          <p:nvPr/>
        </p:nvSpPr>
        <p:spPr>
          <a:xfrm>
            <a:off x="5394960" y="3611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La región toca el eje X (g = 0): no hay hueco, por eso son discos.</a:t>
            </a:r>
            <a:endParaRPr lang="en-US" sz="1600" dirty="0"/>
          </a:p>
        </p:txBody>
      </p:sp>
      <p:sp>
        <p:nvSpPr>
          <p:cNvPr id="12" name="circulo_262"/>
          <p:cNvSpPr/>
          <p:nvPr/>
        </p:nvSpPr>
        <p:spPr>
          <a:xfrm>
            <a:off x="4846320" y="41788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ero_263"/>
          <p:cNvSpPr txBox="1"/>
          <p:nvPr/>
        </p:nvSpPr>
        <p:spPr>
          <a:xfrm>
            <a:off x="4846320" y="4178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o_264"/>
          <p:cNvSpPr txBox="1"/>
          <p:nvPr/>
        </p:nvSpPr>
        <p:spPr>
          <a:xfrm>
            <a:off x="5394960" y="41605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Radio del disco = distancia del eje a la curva:</a:t>
            </a:r>
            <a:endParaRPr lang="en-US" sz="1600" dirty="0"/>
          </a:p>
        </p:txBody>
      </p:sp>
      <p:sp>
        <p:nvSpPr>
          <p:cNvPr id="15" name="texto_265"/>
          <p:cNvSpPr txBox="1"/>
          <p:nvPr/>
        </p:nvSpPr>
        <p:spPr>
          <a:xfrm>
            <a:off x="5394960" y="45262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R(x) = √x</a:t>
            </a:r>
            <a:endParaRPr lang="en-US" sz="2000" dirty="0"/>
          </a:p>
        </p:txBody>
      </p:sp>
      <p:sp>
        <p:nvSpPr>
          <p:cNvPr id="16" name="circulo_266"/>
          <p:cNvSpPr/>
          <p:nvPr/>
        </p:nvSpPr>
        <p:spPr>
          <a:xfrm>
            <a:off x="4846320" y="50932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ero_267"/>
          <p:cNvSpPr txBox="1"/>
          <p:nvPr/>
        </p:nvSpPr>
        <p:spPr>
          <a:xfrm>
            <a:off x="4846320" y="5093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o_268"/>
          <p:cNvSpPr txBox="1"/>
          <p:nvPr/>
        </p:nvSpPr>
        <p:spPr>
          <a:xfrm>
            <a:off x="5394960" y="5074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Área del disco:</a:t>
            </a:r>
            <a:endParaRPr lang="en-US" sz="1600" dirty="0"/>
          </a:p>
        </p:txBody>
      </p:sp>
      <p:sp>
        <p:nvSpPr>
          <p:cNvPr id="19" name="texto_269"/>
          <p:cNvSpPr txBox="1"/>
          <p:nvPr/>
        </p:nvSpPr>
        <p:spPr>
          <a:xfrm>
            <a:off x="5394960" y="5440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A(x) = π(√x)² = πx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CONFIGURACIÓN 1 · MÉTODO DEL DISCO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Resolución paso a paso</a:t>
            </a:r>
            <a:endParaRPr lang="en-US" sz="3200" dirty="0"/>
          </a:p>
        </p:txBody>
      </p:sp>
      <p:sp>
        <p:nvSpPr>
          <p:cNvPr id="4" name="circulo_270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ero_271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_272"/>
          <p:cNvSpPr txBox="1"/>
          <p:nvPr/>
        </p:nvSpPr>
        <p:spPr>
          <a:xfrm>
            <a:off x="1097280" y="1600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Planteamos la integral del disco:</a:t>
            </a:r>
            <a:endParaRPr lang="en-US" sz="1600" dirty="0"/>
          </a:p>
        </p:txBody>
      </p:sp>
      <p:sp>
        <p:nvSpPr>
          <p:cNvPr id="7" name="texto_273"/>
          <p:cNvSpPr txBox="1"/>
          <p:nvPr/>
        </p:nvSpPr>
        <p:spPr>
          <a:xfrm>
            <a:off x="1097280" y="1965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π ∫₀⁴ [f(x)]² dx = π ∫₀⁴ (√x)² dx</a:t>
            </a:r>
            <a:endParaRPr lang="en-US" sz="2000" dirty="0"/>
          </a:p>
        </p:txBody>
      </p:sp>
      <p:sp>
        <p:nvSpPr>
          <p:cNvPr id="8" name="circulo_274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ero_275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o_276"/>
          <p:cNvSpPr txBox="1"/>
          <p:nvPr/>
        </p:nvSpPr>
        <p:spPr>
          <a:xfrm>
            <a:off x="1097280" y="2606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Simplificamos: (√x)² = x</a:t>
            </a:r>
            <a:endParaRPr lang="en-US" sz="1600" dirty="0"/>
          </a:p>
        </p:txBody>
      </p:sp>
      <p:sp>
        <p:nvSpPr>
          <p:cNvPr id="11" name="texto_277"/>
          <p:cNvSpPr txBox="1"/>
          <p:nvPr/>
        </p:nvSpPr>
        <p:spPr>
          <a:xfrm>
            <a:off x="1097280" y="2971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π ∫₀⁴ x dx</a:t>
            </a:r>
            <a:endParaRPr lang="en-US" sz="2000" dirty="0"/>
          </a:p>
        </p:txBody>
      </p:sp>
      <p:sp>
        <p:nvSpPr>
          <p:cNvPr id="12" name="circulo_278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ero_279"/>
          <p:cNvSpPr txBox="1"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o_280"/>
          <p:cNvSpPr txBox="1"/>
          <p:nvPr/>
        </p:nvSpPr>
        <p:spPr>
          <a:xfrm>
            <a:off x="1097280" y="3611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Antiderivada de x:</a:t>
            </a:r>
            <a:endParaRPr lang="en-US" sz="1600" dirty="0"/>
          </a:p>
        </p:txBody>
      </p:sp>
      <p:sp>
        <p:nvSpPr>
          <p:cNvPr id="15" name="texto_281"/>
          <p:cNvSpPr txBox="1"/>
          <p:nvPr/>
        </p:nvSpPr>
        <p:spPr>
          <a:xfrm>
            <a:off x="1097280" y="3977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∫ x dx = x² / 2</a:t>
            </a:r>
            <a:endParaRPr lang="en-US" sz="2000" dirty="0"/>
          </a:p>
        </p:txBody>
      </p:sp>
      <p:sp>
        <p:nvSpPr>
          <p:cNvPr id="16" name="circulo_282"/>
          <p:cNvSpPr/>
          <p:nvPr/>
        </p:nvSpPr>
        <p:spPr>
          <a:xfrm>
            <a:off x="548640" y="4636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ero_283"/>
          <p:cNvSpPr txBox="1"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o_284"/>
          <p:cNvSpPr txBox="1"/>
          <p:nvPr/>
        </p:nvSpPr>
        <p:spPr>
          <a:xfrm>
            <a:off x="1097280" y="4617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Evaluamos de 0 a 4:</a:t>
            </a:r>
            <a:endParaRPr lang="en-US" sz="1600" dirty="0"/>
          </a:p>
        </p:txBody>
      </p:sp>
      <p:sp>
        <p:nvSpPr>
          <p:cNvPr id="19" name="texto_285"/>
          <p:cNvSpPr txBox="1"/>
          <p:nvPr/>
        </p:nvSpPr>
        <p:spPr>
          <a:xfrm>
            <a:off x="1097280" y="49834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π [x²/2]₀⁴ = π (16/2 − 0) = 8π</a:t>
            </a:r>
            <a:endParaRPr lang="en-US" sz="2000" dirty="0"/>
          </a:p>
        </p:txBody>
      </p:sp>
      <p:sp>
        <p:nvSpPr>
          <p:cNvPr id="20" name="tarjeta_286"/>
          <p:cNvSpPr/>
          <p:nvPr/>
        </p:nvSpPr>
        <p:spPr>
          <a:xfrm>
            <a:off x="7680960" y="1600200"/>
            <a:ext cx="3931920" cy="420624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o_287"/>
          <p:cNvSpPr txBox="1"/>
          <p:nvPr/>
        </p:nvSpPr>
        <p:spPr>
          <a:xfrm>
            <a:off x="79552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VOLUMEN</a:t>
            </a:r>
            <a:endParaRPr lang="en-US" sz="1300" dirty="0"/>
          </a:p>
        </p:txBody>
      </p:sp>
      <p:sp>
        <p:nvSpPr>
          <p:cNvPr id="22" name="texto_288"/>
          <p:cNvSpPr txBox="1"/>
          <p:nvPr/>
        </p:nvSpPr>
        <p:spPr>
          <a:xfrm>
            <a:off x="795528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8π</a:t>
            </a:r>
            <a:endParaRPr lang="en-US" sz="4800" dirty="0"/>
          </a:p>
        </p:txBody>
      </p:sp>
      <p:sp>
        <p:nvSpPr>
          <p:cNvPr id="23" name="texto_289"/>
          <p:cNvSpPr txBox="1"/>
          <p:nvPr/>
        </p:nvSpPr>
        <p:spPr>
          <a:xfrm>
            <a:off x="7955280" y="3383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25.13 u³</a:t>
            </a:r>
            <a:endParaRPr lang="en-US" sz="4000" dirty="0"/>
          </a:p>
        </p:txBody>
      </p:sp>
      <p:sp>
        <p:nvSpPr>
          <p:cNvPr id="24" name="texto_290"/>
          <p:cNvSpPr txBox="1"/>
          <p:nvPr/>
        </p:nvSpPr>
        <p:spPr>
          <a:xfrm>
            <a:off x="795528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Simulador: 25.1327 u³ ✓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CONFIGURACIÓN 2 · MÉTODO DE ARANDELAS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Planteamiento: √x y x² en [0, 1]</a:t>
            </a:r>
            <a:endParaRPr lang="en-US" sz="3200" dirty="0"/>
          </a:p>
        </p:txBody>
      </p:sp>
      <p:pic>
        <p:nvPicPr>
          <p:cNvPr id="4" name="imagen_291" descr="Región entre y = √x y y = x² de 0 a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023360" cy="3721608"/>
          </a:xfrm>
          <a:prstGeom prst="rect">
            <a:avLst/>
          </a:prstGeom>
        </p:spPr>
      </p:pic>
      <p:sp>
        <p:nvSpPr>
          <p:cNvPr id="5" name="circulo_292"/>
          <p:cNvSpPr/>
          <p:nvPr/>
        </p:nvSpPr>
        <p:spPr>
          <a:xfrm>
            <a:off x="4846320" y="15727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_293"/>
          <p:cNvSpPr txBox="1"/>
          <p:nvPr/>
        </p:nvSpPr>
        <p:spPr>
          <a:xfrm>
            <a:off x="48463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o_294"/>
          <p:cNvSpPr txBox="1"/>
          <p:nvPr/>
        </p:nvSpPr>
        <p:spPr>
          <a:xfrm>
            <a:off x="5394960" y="1554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Intersecciones: igualamos y elevamos al cuadrado</a:t>
            </a:r>
            <a:endParaRPr lang="en-US" sz="1600" dirty="0"/>
          </a:p>
        </p:txBody>
      </p:sp>
      <p:sp>
        <p:nvSpPr>
          <p:cNvPr id="8" name="texto_295"/>
          <p:cNvSpPr txBox="1"/>
          <p:nvPr/>
        </p:nvSpPr>
        <p:spPr>
          <a:xfrm>
            <a:off x="5394960" y="19202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√x = x²  →  x = x⁴  →  x(x³ − 1) = 0</a:t>
            </a:r>
            <a:endParaRPr lang="en-US" sz="2000" dirty="0"/>
          </a:p>
        </p:txBody>
      </p:sp>
      <p:sp>
        <p:nvSpPr>
          <p:cNvPr id="9" name="circulo_296"/>
          <p:cNvSpPr/>
          <p:nvPr/>
        </p:nvSpPr>
        <p:spPr>
          <a:xfrm>
            <a:off x="4846320" y="2487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ero_297"/>
          <p:cNvSpPr txBox="1"/>
          <p:nvPr/>
        </p:nvSpPr>
        <p:spPr>
          <a:xfrm>
            <a:off x="484632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o_298"/>
          <p:cNvSpPr txBox="1"/>
          <p:nvPr/>
        </p:nvSpPr>
        <p:spPr>
          <a:xfrm>
            <a:off x="5394960" y="2468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Soluciones: x = 0 y x = 1, que coinciden con el intervalo</a:t>
            </a:r>
            <a:endParaRPr lang="en-US" sz="1600" dirty="0"/>
          </a:p>
        </p:txBody>
      </p:sp>
      <p:sp>
        <p:nvSpPr>
          <p:cNvPr id="12" name="texto_299"/>
          <p:cNvSpPr txBox="1"/>
          <p:nvPr/>
        </p:nvSpPr>
        <p:spPr>
          <a:xfrm>
            <a:off x="5394960" y="2834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 = 0,   b = 1</a:t>
            </a:r>
            <a:endParaRPr lang="en-US" sz="2000" dirty="0"/>
          </a:p>
        </p:txBody>
      </p:sp>
      <p:sp>
        <p:nvSpPr>
          <p:cNvPr id="13" name="circulo_300"/>
          <p:cNvSpPr/>
          <p:nvPr/>
        </p:nvSpPr>
        <p:spPr>
          <a:xfrm>
            <a:off x="4846320" y="3401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ero_301"/>
          <p:cNvSpPr txBox="1"/>
          <p:nvPr/>
        </p:nvSpPr>
        <p:spPr>
          <a:xfrm>
            <a:off x="484632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o_302"/>
          <p:cNvSpPr txBox="1"/>
          <p:nvPr/>
        </p:nvSpPr>
        <p:spPr>
          <a:xfrm>
            <a:off x="5394960" y="3383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Punto de prueba x = 0.25:</a:t>
            </a:r>
            <a:endParaRPr lang="en-US" sz="1600" dirty="0"/>
          </a:p>
        </p:txBody>
      </p:sp>
      <p:sp>
        <p:nvSpPr>
          <p:cNvPr id="16" name="texto_303"/>
          <p:cNvSpPr txBox="1"/>
          <p:nvPr/>
        </p:nvSpPr>
        <p:spPr>
          <a:xfrm>
            <a:off x="5394960" y="37490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√0.25 = 0.5  &gt;  0.25² = 0.0625</a:t>
            </a:r>
            <a:endParaRPr lang="en-US" sz="2000" dirty="0"/>
          </a:p>
        </p:txBody>
      </p:sp>
      <p:sp>
        <p:nvSpPr>
          <p:cNvPr id="17" name="circulo_304"/>
          <p:cNvSpPr/>
          <p:nvPr/>
        </p:nvSpPr>
        <p:spPr>
          <a:xfrm>
            <a:off x="4846320" y="43159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ero_305"/>
          <p:cNvSpPr txBox="1"/>
          <p:nvPr/>
        </p:nvSpPr>
        <p:spPr>
          <a:xfrm>
            <a:off x="4846320" y="43159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9" name="texto_306"/>
          <p:cNvSpPr txBox="1"/>
          <p:nvPr/>
        </p:nvSpPr>
        <p:spPr>
          <a:xfrm>
            <a:off x="5394960" y="42976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Superior f = √x → radio exterior; inferior g = x² ≥ 0 → radio interior</a:t>
            </a:r>
            <a:endParaRPr lang="en-US" sz="1600" dirty="0"/>
          </a:p>
        </p:txBody>
      </p:sp>
      <p:sp>
        <p:nvSpPr>
          <p:cNvPr id="20" name="texto_307"/>
          <p:cNvSpPr txBox="1"/>
          <p:nvPr/>
        </p:nvSpPr>
        <p:spPr>
          <a:xfrm>
            <a:off x="5394960" y="46634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R(x) = √x,   r(x) = x²</a:t>
            </a:r>
            <a:endParaRPr lang="en-US" sz="2000" dirty="0"/>
          </a:p>
        </p:txBody>
      </p:sp>
      <p:sp>
        <p:nvSpPr>
          <p:cNvPr id="21" name="circulo_308"/>
          <p:cNvSpPr/>
          <p:nvPr/>
        </p:nvSpPr>
        <p:spPr>
          <a:xfrm>
            <a:off x="4846320" y="52303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numero_309"/>
          <p:cNvSpPr txBox="1"/>
          <p:nvPr/>
        </p:nvSpPr>
        <p:spPr>
          <a:xfrm>
            <a:off x="4846320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3" name="texto_310"/>
          <p:cNvSpPr txBox="1"/>
          <p:nvPr/>
        </p:nvSpPr>
        <p:spPr>
          <a:xfrm>
            <a:off x="5394960" y="52120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Área de la arandela:</a:t>
            </a:r>
            <a:endParaRPr lang="en-US" sz="1600" dirty="0"/>
          </a:p>
        </p:txBody>
      </p:sp>
      <p:sp>
        <p:nvSpPr>
          <p:cNvPr id="24" name="texto_311"/>
          <p:cNvSpPr txBox="1"/>
          <p:nvPr/>
        </p:nvSpPr>
        <p:spPr>
          <a:xfrm>
            <a:off x="5394960" y="5577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A(x) = π[(√x)² − (x²)²] = π(x − x⁴)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CONFIGURACIÓN 2 · MÉTODO DE ARANDELAS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Resolución paso a paso</a:t>
            </a:r>
            <a:endParaRPr lang="en-US" sz="3200" dirty="0"/>
          </a:p>
        </p:txBody>
      </p:sp>
      <p:sp>
        <p:nvSpPr>
          <p:cNvPr id="4" name="circulo_312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ero_313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_314"/>
          <p:cNvSpPr txBox="1"/>
          <p:nvPr/>
        </p:nvSpPr>
        <p:spPr>
          <a:xfrm>
            <a:off x="1097280" y="1600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Planteamos la integral de arandelas:</a:t>
            </a:r>
            <a:endParaRPr lang="en-US" sz="1600" dirty="0"/>
          </a:p>
        </p:txBody>
      </p:sp>
      <p:sp>
        <p:nvSpPr>
          <p:cNvPr id="7" name="texto_315"/>
          <p:cNvSpPr txBox="1"/>
          <p:nvPr/>
        </p:nvSpPr>
        <p:spPr>
          <a:xfrm>
            <a:off x="1097280" y="1965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π ∫₀¹ [ (√x)² − (x²)² ] dx</a:t>
            </a:r>
            <a:endParaRPr lang="en-US" sz="2000" dirty="0"/>
          </a:p>
        </p:txBody>
      </p:sp>
      <p:sp>
        <p:nvSpPr>
          <p:cNvPr id="8" name="circulo_316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ero_317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o_318"/>
          <p:cNvSpPr txBox="1"/>
          <p:nvPr/>
        </p:nvSpPr>
        <p:spPr>
          <a:xfrm>
            <a:off x="1097280" y="2606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Simplificamos los cuadrados:</a:t>
            </a:r>
            <a:endParaRPr lang="en-US" sz="1600" dirty="0"/>
          </a:p>
        </p:txBody>
      </p:sp>
      <p:sp>
        <p:nvSpPr>
          <p:cNvPr id="11" name="texto_319"/>
          <p:cNvSpPr txBox="1"/>
          <p:nvPr/>
        </p:nvSpPr>
        <p:spPr>
          <a:xfrm>
            <a:off x="1097280" y="2971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π ∫₀¹ ( x − x⁴ ) dx</a:t>
            </a:r>
            <a:endParaRPr lang="en-US" sz="2000" dirty="0"/>
          </a:p>
        </p:txBody>
      </p:sp>
      <p:sp>
        <p:nvSpPr>
          <p:cNvPr id="12" name="circulo_320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ero_321"/>
          <p:cNvSpPr txBox="1"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o_322"/>
          <p:cNvSpPr txBox="1"/>
          <p:nvPr/>
        </p:nvSpPr>
        <p:spPr>
          <a:xfrm>
            <a:off x="1097280" y="3611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Antiderivada término a término:</a:t>
            </a:r>
            <a:endParaRPr lang="en-US" sz="1600" dirty="0"/>
          </a:p>
        </p:txBody>
      </p:sp>
      <p:sp>
        <p:nvSpPr>
          <p:cNvPr id="15" name="texto_323"/>
          <p:cNvSpPr txBox="1"/>
          <p:nvPr/>
        </p:nvSpPr>
        <p:spPr>
          <a:xfrm>
            <a:off x="1097280" y="3977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 [ x²/2 − x⁵/5 ]₀¹</a:t>
            </a:r>
            <a:endParaRPr lang="en-US" sz="2000" dirty="0"/>
          </a:p>
        </p:txBody>
      </p:sp>
      <p:sp>
        <p:nvSpPr>
          <p:cNvPr id="16" name="circulo_324"/>
          <p:cNvSpPr/>
          <p:nvPr/>
        </p:nvSpPr>
        <p:spPr>
          <a:xfrm>
            <a:off x="548640" y="4636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ero_325"/>
          <p:cNvSpPr txBox="1"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o_326"/>
          <p:cNvSpPr txBox="1"/>
          <p:nvPr/>
        </p:nvSpPr>
        <p:spPr>
          <a:xfrm>
            <a:off x="1097280" y="4617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Evaluamos de 0 a 1 (denominador común 10):</a:t>
            </a:r>
            <a:endParaRPr lang="en-US" sz="1600" dirty="0"/>
          </a:p>
        </p:txBody>
      </p:sp>
      <p:sp>
        <p:nvSpPr>
          <p:cNvPr id="19" name="texto_327"/>
          <p:cNvSpPr txBox="1"/>
          <p:nvPr/>
        </p:nvSpPr>
        <p:spPr>
          <a:xfrm>
            <a:off x="1097280" y="49834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π (1/2 − 1/5) = π (5/10 − 2/10) = 3π/10</a:t>
            </a:r>
            <a:endParaRPr lang="en-US" sz="2000" dirty="0"/>
          </a:p>
        </p:txBody>
      </p:sp>
      <p:sp>
        <p:nvSpPr>
          <p:cNvPr id="20" name="tarjeta_328"/>
          <p:cNvSpPr/>
          <p:nvPr/>
        </p:nvSpPr>
        <p:spPr>
          <a:xfrm>
            <a:off x="7680960" y="1600200"/>
            <a:ext cx="3931920" cy="420624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o_329"/>
          <p:cNvSpPr txBox="1"/>
          <p:nvPr/>
        </p:nvSpPr>
        <p:spPr>
          <a:xfrm>
            <a:off x="79552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VOLUMEN</a:t>
            </a:r>
            <a:endParaRPr lang="en-US" sz="1300" dirty="0"/>
          </a:p>
        </p:txBody>
      </p:sp>
      <p:sp>
        <p:nvSpPr>
          <p:cNvPr id="22" name="texto_330"/>
          <p:cNvSpPr txBox="1"/>
          <p:nvPr/>
        </p:nvSpPr>
        <p:spPr>
          <a:xfrm>
            <a:off x="795528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3π/10</a:t>
            </a:r>
            <a:endParaRPr lang="en-US" sz="4400" dirty="0"/>
          </a:p>
        </p:txBody>
      </p:sp>
      <p:sp>
        <p:nvSpPr>
          <p:cNvPr id="23" name="texto_331"/>
          <p:cNvSpPr txBox="1"/>
          <p:nvPr/>
        </p:nvSpPr>
        <p:spPr>
          <a:xfrm>
            <a:off x="7955280" y="3383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0.9425 u³</a:t>
            </a:r>
            <a:endParaRPr lang="en-US" sz="4000" dirty="0"/>
          </a:p>
        </p:txBody>
      </p:sp>
      <p:sp>
        <p:nvSpPr>
          <p:cNvPr id="24" name="texto_332"/>
          <p:cNvSpPr txBox="1"/>
          <p:nvPr/>
        </p:nvSpPr>
        <p:spPr>
          <a:xfrm>
            <a:off x="795528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Simulador: 0.9425 u³ ✓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CONFIGURACIÓN 3 · CAPAS CILÍNDRICAS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Planteamiento: 2x y x² en [0, 2], eje Y</a:t>
            </a:r>
            <a:endParaRPr lang="en-US" sz="3200" dirty="0"/>
          </a:p>
        </p:txBody>
      </p:sp>
      <p:pic>
        <p:nvPicPr>
          <p:cNvPr id="4" name="imagen_333" descr="Región entre y = 2x y y = x² de 0 a 2; eje Y como eje de rot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4023360" cy="3721608"/>
          </a:xfrm>
          <a:prstGeom prst="rect">
            <a:avLst/>
          </a:prstGeom>
        </p:spPr>
      </p:pic>
      <p:sp>
        <p:nvSpPr>
          <p:cNvPr id="5" name="circulo_334"/>
          <p:cNvSpPr/>
          <p:nvPr/>
        </p:nvSpPr>
        <p:spPr>
          <a:xfrm>
            <a:off x="4846320" y="15727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_335"/>
          <p:cNvSpPr txBox="1"/>
          <p:nvPr/>
        </p:nvSpPr>
        <p:spPr>
          <a:xfrm>
            <a:off x="484632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o_336"/>
          <p:cNvSpPr txBox="1"/>
          <p:nvPr/>
        </p:nvSpPr>
        <p:spPr>
          <a:xfrm>
            <a:off x="5394960" y="1554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Intersecciones:</a:t>
            </a:r>
            <a:endParaRPr lang="en-US" sz="1600" dirty="0"/>
          </a:p>
        </p:txBody>
      </p:sp>
      <p:sp>
        <p:nvSpPr>
          <p:cNvPr id="8" name="texto_337"/>
          <p:cNvSpPr txBox="1"/>
          <p:nvPr/>
        </p:nvSpPr>
        <p:spPr>
          <a:xfrm>
            <a:off x="5394960" y="19202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2x = x²  →  x(x − 2) = 0  →  x = 0, x = 2</a:t>
            </a:r>
            <a:endParaRPr lang="en-US" sz="2000" dirty="0"/>
          </a:p>
        </p:txBody>
      </p:sp>
      <p:sp>
        <p:nvSpPr>
          <p:cNvPr id="9" name="circulo_338"/>
          <p:cNvSpPr/>
          <p:nvPr/>
        </p:nvSpPr>
        <p:spPr>
          <a:xfrm>
            <a:off x="4846320" y="2487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numero_339"/>
          <p:cNvSpPr txBox="1"/>
          <p:nvPr/>
        </p:nvSpPr>
        <p:spPr>
          <a:xfrm>
            <a:off x="4846320" y="2487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1" name="texto_340"/>
          <p:cNvSpPr txBox="1"/>
          <p:nvPr/>
        </p:nvSpPr>
        <p:spPr>
          <a:xfrm>
            <a:off x="5394960" y="2468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Punto de prueba x = 1:</a:t>
            </a:r>
            <a:endParaRPr lang="en-US" sz="1600" dirty="0"/>
          </a:p>
        </p:txBody>
      </p:sp>
      <p:sp>
        <p:nvSpPr>
          <p:cNvPr id="12" name="texto_341"/>
          <p:cNvSpPr txBox="1"/>
          <p:nvPr/>
        </p:nvSpPr>
        <p:spPr>
          <a:xfrm>
            <a:off x="5394960" y="2834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2(1) = 2  &gt;  1² = 1  →  f = 2x es la superior</a:t>
            </a:r>
            <a:endParaRPr lang="en-US" sz="2000" dirty="0"/>
          </a:p>
        </p:txBody>
      </p:sp>
      <p:sp>
        <p:nvSpPr>
          <p:cNvPr id="13" name="circulo_342"/>
          <p:cNvSpPr/>
          <p:nvPr/>
        </p:nvSpPr>
        <p:spPr>
          <a:xfrm>
            <a:off x="4846320" y="34015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numero_343"/>
          <p:cNvSpPr txBox="1"/>
          <p:nvPr/>
        </p:nvSpPr>
        <p:spPr>
          <a:xfrm>
            <a:off x="4846320" y="34015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texto_344"/>
          <p:cNvSpPr txBox="1"/>
          <p:nvPr/>
        </p:nvSpPr>
        <p:spPr>
          <a:xfrm>
            <a:off x="5394960" y="3383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Condición de capas: a = 0 ≥ 0 ✓ (el radio x no es negativo)</a:t>
            </a:r>
            <a:endParaRPr lang="en-US" sz="1600" dirty="0"/>
          </a:p>
        </p:txBody>
      </p:sp>
      <p:sp>
        <p:nvSpPr>
          <p:cNvPr id="16" name="circulo_345"/>
          <p:cNvSpPr/>
          <p:nvPr/>
        </p:nvSpPr>
        <p:spPr>
          <a:xfrm>
            <a:off x="4846320" y="39502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ero_346"/>
          <p:cNvSpPr txBox="1"/>
          <p:nvPr/>
        </p:nvSpPr>
        <p:spPr>
          <a:xfrm>
            <a:off x="484632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o_347"/>
          <p:cNvSpPr txBox="1"/>
          <p:nvPr/>
        </p:nvSpPr>
        <p:spPr>
          <a:xfrm>
            <a:off x="5394960" y="3931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Franja vertical que gira alrededor del eje Y = capa cilíndrica:</a:t>
            </a:r>
            <a:endParaRPr lang="en-US" sz="1600" dirty="0"/>
          </a:p>
        </p:txBody>
      </p:sp>
      <p:sp>
        <p:nvSpPr>
          <p:cNvPr id="19" name="texto_348"/>
          <p:cNvSpPr txBox="1"/>
          <p:nvPr/>
        </p:nvSpPr>
        <p:spPr>
          <a:xfrm>
            <a:off x="5394960" y="42976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radio = x,   altura h(x) = 2x − x²,   grosor dx</a:t>
            </a:r>
            <a:endParaRPr lang="en-US" sz="2000" dirty="0"/>
          </a:p>
        </p:txBody>
      </p:sp>
      <p:sp>
        <p:nvSpPr>
          <p:cNvPr id="20" name="circulo_349"/>
          <p:cNvSpPr/>
          <p:nvPr/>
        </p:nvSpPr>
        <p:spPr>
          <a:xfrm>
            <a:off x="4846320" y="48646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numero_350"/>
          <p:cNvSpPr txBox="1"/>
          <p:nvPr/>
        </p:nvSpPr>
        <p:spPr>
          <a:xfrm>
            <a:off x="4846320" y="4864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o_351"/>
          <p:cNvSpPr txBox="1"/>
          <p:nvPr/>
        </p:nvSpPr>
        <p:spPr>
          <a:xfrm>
            <a:off x="5394960" y="48463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Volumen de una capa (perímetro × altura × grosor):</a:t>
            </a:r>
            <a:endParaRPr lang="en-US" sz="1600" dirty="0"/>
          </a:p>
        </p:txBody>
      </p:sp>
      <p:sp>
        <p:nvSpPr>
          <p:cNvPr id="23" name="texto_352"/>
          <p:cNvSpPr txBox="1"/>
          <p:nvPr/>
        </p:nvSpPr>
        <p:spPr>
          <a:xfrm>
            <a:off x="5394960" y="5212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dV = 2π · x · (2x − x²) dx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CONFIGURACIÓN 3 · CAPAS CILÍNDRICAS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Resolución paso a paso</a:t>
            </a:r>
            <a:endParaRPr lang="en-US" sz="3200" dirty="0"/>
          </a:p>
        </p:txBody>
      </p:sp>
      <p:sp>
        <p:nvSpPr>
          <p:cNvPr id="4" name="circulo_353"/>
          <p:cNvSpPr/>
          <p:nvPr/>
        </p:nvSpPr>
        <p:spPr>
          <a:xfrm>
            <a:off x="548640" y="161848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numero_354"/>
          <p:cNvSpPr txBox="1"/>
          <p:nvPr/>
        </p:nvSpPr>
        <p:spPr>
          <a:xfrm>
            <a:off x="548640" y="1618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o_355"/>
          <p:cNvSpPr txBox="1"/>
          <p:nvPr/>
        </p:nvSpPr>
        <p:spPr>
          <a:xfrm>
            <a:off x="1097280" y="160020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Planteamos la integral de capas:</a:t>
            </a:r>
            <a:endParaRPr lang="en-US" sz="1600" dirty="0"/>
          </a:p>
        </p:txBody>
      </p:sp>
      <p:sp>
        <p:nvSpPr>
          <p:cNvPr id="7" name="texto_356"/>
          <p:cNvSpPr txBox="1"/>
          <p:nvPr/>
        </p:nvSpPr>
        <p:spPr>
          <a:xfrm>
            <a:off x="1097280" y="196596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2π ∫₀² x (2x − x²) dx</a:t>
            </a:r>
            <a:endParaRPr lang="en-US" sz="2000" dirty="0"/>
          </a:p>
        </p:txBody>
      </p:sp>
      <p:sp>
        <p:nvSpPr>
          <p:cNvPr id="8" name="circulo_357"/>
          <p:cNvSpPr/>
          <p:nvPr/>
        </p:nvSpPr>
        <p:spPr>
          <a:xfrm>
            <a:off x="548640" y="262432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numero_358"/>
          <p:cNvSpPr txBox="1"/>
          <p:nvPr/>
        </p:nvSpPr>
        <p:spPr>
          <a:xfrm>
            <a:off x="548640" y="2624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o_359"/>
          <p:cNvSpPr txBox="1"/>
          <p:nvPr/>
        </p:nvSpPr>
        <p:spPr>
          <a:xfrm>
            <a:off x="1097280" y="260604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Multiplicamos x por la altura:</a:t>
            </a:r>
            <a:endParaRPr lang="en-US" sz="1600" dirty="0"/>
          </a:p>
        </p:txBody>
      </p:sp>
      <p:sp>
        <p:nvSpPr>
          <p:cNvPr id="11" name="texto_360"/>
          <p:cNvSpPr txBox="1"/>
          <p:nvPr/>
        </p:nvSpPr>
        <p:spPr>
          <a:xfrm>
            <a:off x="1097280" y="29718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2π ∫₀² ( 2x² − x³ ) dx</a:t>
            </a:r>
            <a:endParaRPr lang="en-US" sz="2000" dirty="0"/>
          </a:p>
        </p:txBody>
      </p:sp>
      <p:sp>
        <p:nvSpPr>
          <p:cNvPr id="12" name="circulo_361"/>
          <p:cNvSpPr/>
          <p:nvPr/>
        </p:nvSpPr>
        <p:spPr>
          <a:xfrm>
            <a:off x="548640" y="363016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numero_362"/>
          <p:cNvSpPr txBox="1"/>
          <p:nvPr/>
        </p:nvSpPr>
        <p:spPr>
          <a:xfrm>
            <a:off x="548640" y="36301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o_363"/>
          <p:cNvSpPr txBox="1"/>
          <p:nvPr/>
        </p:nvSpPr>
        <p:spPr>
          <a:xfrm>
            <a:off x="1097280" y="36118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Antiderivada término a término:</a:t>
            </a:r>
            <a:endParaRPr lang="en-US" sz="1600" dirty="0"/>
          </a:p>
        </p:txBody>
      </p:sp>
      <p:sp>
        <p:nvSpPr>
          <p:cNvPr id="15" name="texto_364"/>
          <p:cNvSpPr txBox="1"/>
          <p:nvPr/>
        </p:nvSpPr>
        <p:spPr>
          <a:xfrm>
            <a:off x="1097280" y="39776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2π [ 2x³/3 − x⁴/4 ]₀²</a:t>
            </a:r>
            <a:endParaRPr lang="en-US" sz="2000" dirty="0"/>
          </a:p>
        </p:txBody>
      </p:sp>
      <p:sp>
        <p:nvSpPr>
          <p:cNvPr id="16" name="circulo_365"/>
          <p:cNvSpPr/>
          <p:nvPr/>
        </p:nvSpPr>
        <p:spPr>
          <a:xfrm>
            <a:off x="548640" y="463600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numero_366"/>
          <p:cNvSpPr txBox="1"/>
          <p:nvPr/>
        </p:nvSpPr>
        <p:spPr>
          <a:xfrm>
            <a:off x="548640" y="4636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o_367"/>
          <p:cNvSpPr txBox="1"/>
          <p:nvPr/>
        </p:nvSpPr>
        <p:spPr>
          <a:xfrm>
            <a:off x="1097280" y="4617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Evaluamos de 0 a 2:</a:t>
            </a:r>
            <a:endParaRPr lang="en-US" sz="1600" dirty="0"/>
          </a:p>
        </p:txBody>
      </p:sp>
      <p:sp>
        <p:nvSpPr>
          <p:cNvPr id="19" name="texto_368"/>
          <p:cNvSpPr txBox="1"/>
          <p:nvPr/>
        </p:nvSpPr>
        <p:spPr>
          <a:xfrm>
            <a:off x="1097280" y="49834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2π (16/3 − 16/4) = 2π (16/3 − 4) = 2π (4/3) = 8π/3</a:t>
            </a:r>
            <a:endParaRPr lang="en-US" sz="2000" dirty="0"/>
          </a:p>
        </p:txBody>
      </p:sp>
      <p:sp>
        <p:nvSpPr>
          <p:cNvPr id="20" name="tarjeta_369"/>
          <p:cNvSpPr/>
          <p:nvPr/>
        </p:nvSpPr>
        <p:spPr>
          <a:xfrm>
            <a:off x="7680960" y="1600200"/>
            <a:ext cx="3931920" cy="4206240"/>
          </a:xfrm>
          <a:prstGeom prst="roundRect">
            <a:avLst>
              <a:gd name="adj" fmla="val 2791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21" name="texto_370"/>
          <p:cNvSpPr txBox="1"/>
          <p:nvPr/>
        </p:nvSpPr>
        <p:spPr>
          <a:xfrm>
            <a:off x="7955280" y="18288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VOLUMEN</a:t>
            </a:r>
            <a:endParaRPr lang="en-US" sz="1300" dirty="0"/>
          </a:p>
        </p:txBody>
      </p:sp>
      <p:sp>
        <p:nvSpPr>
          <p:cNvPr id="22" name="texto_371"/>
          <p:cNvSpPr txBox="1"/>
          <p:nvPr/>
        </p:nvSpPr>
        <p:spPr>
          <a:xfrm>
            <a:off x="7955280" y="237744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 = 8π/3</a:t>
            </a:r>
            <a:endParaRPr lang="en-US" sz="4400" dirty="0"/>
          </a:p>
        </p:txBody>
      </p:sp>
      <p:sp>
        <p:nvSpPr>
          <p:cNvPr id="23" name="texto_372"/>
          <p:cNvSpPr txBox="1"/>
          <p:nvPr/>
        </p:nvSpPr>
        <p:spPr>
          <a:xfrm>
            <a:off x="7955280" y="33832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8.3776 u³</a:t>
            </a:r>
            <a:endParaRPr lang="en-US" sz="4000" dirty="0"/>
          </a:p>
        </p:txBody>
      </p:sp>
      <p:sp>
        <p:nvSpPr>
          <p:cNvPr id="24" name="texto_373"/>
          <p:cNvSpPr txBox="1"/>
          <p:nvPr/>
        </p:nvSpPr>
        <p:spPr>
          <a:xfrm>
            <a:off x="7955280" y="48463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</a:rPr>
              <a:t>Simulador: 8.3776 u³ ✓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EL SIMULADOR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Cómo funciona el programa</a:t>
            </a:r>
            <a:endParaRPr lang="en-US" sz="3200" dirty="0"/>
          </a:p>
        </p:txBody>
      </p:sp>
      <p:sp>
        <p:nvSpPr>
          <p:cNvPr id="4" name="tarjeta_374"/>
          <p:cNvSpPr/>
          <p:nvPr/>
        </p:nvSpPr>
        <p:spPr>
          <a:xfrm>
            <a:off x="548640" y="1600200"/>
            <a:ext cx="1975104" cy="21031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rculo_375"/>
          <p:cNvSpPr/>
          <p:nvPr/>
        </p:nvSpPr>
        <p:spPr>
          <a:xfrm>
            <a:off x="731520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numero_376"/>
          <p:cNvSpPr txBox="1"/>
          <p:nvPr/>
        </p:nvSpPr>
        <p:spPr>
          <a:xfrm>
            <a:off x="73152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o_377"/>
          <p:cNvSpPr txBox="1"/>
          <p:nvPr/>
        </p:nvSpPr>
        <p:spPr>
          <a:xfrm>
            <a:off x="731520" y="242316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Entrada</a:t>
            </a:r>
            <a:endParaRPr lang="en-US" sz="1700" dirty="0"/>
          </a:p>
        </p:txBody>
      </p:sp>
      <p:sp>
        <p:nvSpPr>
          <p:cNvPr id="8" name="texto_378"/>
          <p:cNvSpPr txBox="1"/>
          <p:nvPr/>
        </p:nvSpPr>
        <p:spPr>
          <a:xfrm>
            <a:off x="731520" y="28346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f(x), g(x), a, b, método y eje</a:t>
            </a:r>
            <a:endParaRPr lang="en-US" sz="1300" dirty="0"/>
          </a:p>
        </p:txBody>
      </p:sp>
      <p:sp>
        <p:nvSpPr>
          <p:cNvPr id="9" name="flecha_379"/>
          <p:cNvSpPr/>
          <p:nvPr/>
        </p:nvSpPr>
        <p:spPr>
          <a:xfrm>
            <a:off x="2560320" y="2514600"/>
            <a:ext cx="20116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arjeta_380"/>
          <p:cNvSpPr/>
          <p:nvPr/>
        </p:nvSpPr>
        <p:spPr>
          <a:xfrm>
            <a:off x="2798064" y="1600200"/>
            <a:ext cx="1975104" cy="21031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rculo_381"/>
          <p:cNvSpPr/>
          <p:nvPr/>
        </p:nvSpPr>
        <p:spPr>
          <a:xfrm>
            <a:off x="2980944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numero_382"/>
          <p:cNvSpPr txBox="1"/>
          <p:nvPr/>
        </p:nvSpPr>
        <p:spPr>
          <a:xfrm>
            <a:off x="2980944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o_383"/>
          <p:cNvSpPr txBox="1"/>
          <p:nvPr/>
        </p:nvSpPr>
        <p:spPr>
          <a:xfrm>
            <a:off x="2980944" y="242316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Validación</a:t>
            </a:r>
            <a:endParaRPr lang="en-US" sz="1700" dirty="0"/>
          </a:p>
        </p:txBody>
      </p:sp>
      <p:sp>
        <p:nvSpPr>
          <p:cNvPr id="14" name="texto_384"/>
          <p:cNvSpPr txBox="1"/>
          <p:nvPr/>
        </p:nvSpPr>
        <p:spPr>
          <a:xfrm>
            <a:off x="2980944" y="28346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Rechaza datos y combinaciones no permitidas</a:t>
            </a:r>
            <a:endParaRPr lang="en-US" sz="1300" dirty="0"/>
          </a:p>
        </p:txBody>
      </p:sp>
      <p:sp>
        <p:nvSpPr>
          <p:cNvPr id="15" name="flecha_385"/>
          <p:cNvSpPr/>
          <p:nvPr/>
        </p:nvSpPr>
        <p:spPr>
          <a:xfrm>
            <a:off x="4809744" y="2514600"/>
            <a:ext cx="20116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arjeta_386"/>
          <p:cNvSpPr/>
          <p:nvPr/>
        </p:nvSpPr>
        <p:spPr>
          <a:xfrm>
            <a:off x="5047488" y="1600200"/>
            <a:ext cx="1975104" cy="21031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irculo_387"/>
          <p:cNvSpPr/>
          <p:nvPr/>
        </p:nvSpPr>
        <p:spPr>
          <a:xfrm>
            <a:off x="5230368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numero_388"/>
          <p:cNvSpPr txBox="1"/>
          <p:nvPr/>
        </p:nvSpPr>
        <p:spPr>
          <a:xfrm>
            <a:off x="523036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o_389"/>
          <p:cNvSpPr txBox="1"/>
          <p:nvPr/>
        </p:nvSpPr>
        <p:spPr>
          <a:xfrm>
            <a:off x="5230368" y="242316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Integral</a:t>
            </a:r>
            <a:endParaRPr lang="en-US" sz="1700" dirty="0"/>
          </a:p>
        </p:txBody>
      </p:sp>
      <p:sp>
        <p:nvSpPr>
          <p:cNvPr id="20" name="texto_390"/>
          <p:cNvSpPr txBox="1"/>
          <p:nvPr/>
        </p:nvSpPr>
        <p:spPr>
          <a:xfrm>
            <a:off x="5230368" y="28346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Arma la integral del método elegido y calcula el volumen</a:t>
            </a:r>
            <a:endParaRPr lang="en-US" sz="1300" dirty="0"/>
          </a:p>
        </p:txBody>
      </p:sp>
      <p:sp>
        <p:nvSpPr>
          <p:cNvPr id="21" name="flecha_391"/>
          <p:cNvSpPr/>
          <p:nvPr/>
        </p:nvSpPr>
        <p:spPr>
          <a:xfrm>
            <a:off x="7059168" y="2514600"/>
            <a:ext cx="20116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arjeta_392"/>
          <p:cNvSpPr/>
          <p:nvPr/>
        </p:nvSpPr>
        <p:spPr>
          <a:xfrm>
            <a:off x="7296912" y="1600200"/>
            <a:ext cx="1975104" cy="21031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circulo_393"/>
          <p:cNvSpPr/>
          <p:nvPr/>
        </p:nvSpPr>
        <p:spPr>
          <a:xfrm>
            <a:off x="7479792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numero_394"/>
          <p:cNvSpPr txBox="1"/>
          <p:nvPr/>
        </p:nvSpPr>
        <p:spPr>
          <a:xfrm>
            <a:off x="747979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o_395"/>
          <p:cNvSpPr txBox="1"/>
          <p:nvPr/>
        </p:nvSpPr>
        <p:spPr>
          <a:xfrm>
            <a:off x="7479792" y="242316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Gráficas</a:t>
            </a:r>
            <a:endParaRPr lang="en-US" sz="1700" dirty="0"/>
          </a:p>
        </p:txBody>
      </p:sp>
      <p:sp>
        <p:nvSpPr>
          <p:cNvPr id="26" name="texto_396"/>
          <p:cNvSpPr txBox="1"/>
          <p:nvPr/>
        </p:nvSpPr>
        <p:spPr>
          <a:xfrm>
            <a:off x="7479792" y="28346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Región 2D, sólido 3D y volumen acumulado</a:t>
            </a:r>
            <a:endParaRPr lang="en-US" sz="1300" dirty="0"/>
          </a:p>
        </p:txBody>
      </p:sp>
      <p:sp>
        <p:nvSpPr>
          <p:cNvPr id="27" name="flecha_397"/>
          <p:cNvSpPr/>
          <p:nvPr/>
        </p:nvSpPr>
        <p:spPr>
          <a:xfrm>
            <a:off x="9308592" y="2514600"/>
            <a:ext cx="201168" cy="274320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arjeta_398"/>
          <p:cNvSpPr/>
          <p:nvPr/>
        </p:nvSpPr>
        <p:spPr>
          <a:xfrm>
            <a:off x="9546336" y="1600200"/>
            <a:ext cx="1975104" cy="2103120"/>
          </a:xfrm>
          <a:prstGeom prst="roundRect">
            <a:avLst>
              <a:gd name="adj" fmla="val 5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irculo_399"/>
          <p:cNvSpPr/>
          <p:nvPr/>
        </p:nvSpPr>
        <p:spPr>
          <a:xfrm>
            <a:off x="9729216" y="1783080"/>
            <a:ext cx="475488" cy="47548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numero_400"/>
          <p:cNvSpPr txBox="1"/>
          <p:nvPr/>
        </p:nvSpPr>
        <p:spPr>
          <a:xfrm>
            <a:off x="9729216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o_401"/>
          <p:cNvSpPr txBox="1"/>
          <p:nvPr/>
        </p:nvSpPr>
        <p:spPr>
          <a:xfrm>
            <a:off x="9729216" y="2423160"/>
            <a:ext cx="16550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Resultados</a:t>
            </a:r>
            <a:endParaRPr lang="en-US" sz="1700" dirty="0"/>
          </a:p>
        </p:txBody>
      </p:sp>
      <p:sp>
        <p:nvSpPr>
          <p:cNvPr id="32" name="texto_402"/>
          <p:cNvSpPr txBox="1"/>
          <p:nvPr/>
        </p:nvSpPr>
        <p:spPr>
          <a:xfrm>
            <a:off x="9729216" y="2834640"/>
            <a:ext cx="165506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Compara con el valor manual y exporta CSV/TXT</a:t>
            </a:r>
            <a:endParaRPr lang="en-US" sz="1300" dirty="0"/>
          </a:p>
        </p:txBody>
      </p:sp>
      <p:graphicFrame>
        <p:nvGraphicFramePr>
          <p:cNvPr id="22" name="tabla_4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977640"/>
          <a:ext cx="1106424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6949440"/>
                <a:gridCol w="13716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Método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Integral programada (igual a la resolución manual)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Eje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Discos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π · f(x)²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Arandelas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π · ( f(x)² − g(x)² 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Capas cilíndricas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2π · x · ( f(x) − g(x) 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Y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4" name="texto_404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Hecho en Java 21 con JavaFX · la librería exp4j lee las funciones que escribe el usuario · se entrega como ejecutable .exe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EL SIMULADOR · VALIDACIÓN DE DATOS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Antes de calcular, el programa revisa</a:t>
            </a:r>
            <a:endParaRPr lang="en-US" sz="3200" dirty="0"/>
          </a:p>
        </p:txBody>
      </p:sp>
      <p:graphicFrame>
        <p:nvGraphicFramePr>
          <p:cNvPr id="23" name="tabla_4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74066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Regla verificada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Mensaje si falla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y b son números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Los límites de integración a y b deben ser números válidos.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a &lt; b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Debe cumplirse que a &lt; b.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Discos y arandelas → eje 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Los métodos de discos y arandelas deben ser alrededor del eje X.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Capas → eje Y y 0 ≤ a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El método de capas cilíndricas debe ser alrededor del eje Y (0 ≤ a &lt; b).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 y g definidas en [a, b]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Las funciones no se pudieron evaluar en todo el intervalo [a, b].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f(x) ≥ g(x) ≥ 0 (eje X)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Para discos y arandelas debe cumplirse f(x) ≥ g(x) ≥ 0 en [a, b].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arjeta_406"/>
          <p:cNvSpPr/>
          <p:nvPr/>
        </p:nvSpPr>
        <p:spPr>
          <a:xfrm>
            <a:off x="548640" y="4206240"/>
            <a:ext cx="11064240" cy="731520"/>
          </a:xfrm>
          <a:prstGeom prst="roundRect">
            <a:avLst>
              <a:gd name="adj" fmla="val 15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texto_407"/>
          <p:cNvSpPr txBox="1"/>
          <p:nvPr/>
        </p:nvSpPr>
        <p:spPr>
          <a:xfrm>
            <a:off x="777240" y="4315968"/>
            <a:ext cx="10607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 el método y el eje no son compatibles, el botón del eje se deshabilita y el programa no calcula el volumen.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EL SIMULADOR · VALIDACIÓN DE RESULTADOS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Resultado manual contra simulador</a:t>
            </a:r>
            <a:endParaRPr lang="en-US" sz="3200" dirty="0"/>
          </a:p>
        </p:txBody>
      </p:sp>
      <p:graphicFrame>
        <p:nvGraphicFramePr>
          <p:cNvPr id="24" name="tabla_40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  <a:gridCol w="1051560"/>
                <a:gridCol w="1600200"/>
                <a:gridCol w="2057400"/>
                <a:gridCol w="1463040"/>
                <a:gridCol w="14173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Problema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Funciones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Intervalo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Método (eje)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Manual (u³)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Simulador (u³)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Diferencia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Principal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 = x + 3, g = x² + 1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[−1, 2]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Arandelas (X)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117π/5 = 73.5133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73.5133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0.0001 %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Config. 1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 = √x, g = 0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[0, 4]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Discos (X)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8π = 25.1327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25.1327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0.0001 %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Config. 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 = √x, g = x²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[0, 1]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Arandelas (X)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3π/10 = 0.9425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0.9425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0.0001 %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Config. 3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 = 2x, g = x²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[0, 2]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Capas (Y)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8π/3 = 8.3776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8.3776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&lt; 0.0001 %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tarjeta_409"/>
          <p:cNvSpPr/>
          <p:nvPr/>
        </p:nvSpPr>
        <p:spPr>
          <a:xfrm>
            <a:off x="548640" y="384048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_410"/>
          <p:cNvSpPr txBox="1"/>
          <p:nvPr/>
        </p:nvSpPr>
        <p:spPr>
          <a:xfrm>
            <a:off x="777240" y="3977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Diferencia porcentual</a:t>
            </a:r>
            <a:endParaRPr lang="en-US" sz="1600" dirty="0"/>
          </a:p>
        </p:txBody>
      </p:sp>
      <p:sp>
        <p:nvSpPr>
          <p:cNvPr id="7" name="texto_411"/>
          <p:cNvSpPr txBox="1"/>
          <p:nvPr/>
        </p:nvSpPr>
        <p:spPr>
          <a:xfrm>
            <a:off x="777240" y="44348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|V_sim − V_manual| / |V_sim| × 100</a:t>
            </a:r>
            <a:endParaRPr lang="en-US" sz="2000" dirty="0"/>
          </a:p>
        </p:txBody>
      </p:sp>
      <p:sp>
        <p:nvSpPr>
          <p:cNvPr id="8" name="texto_412"/>
          <p:cNvSpPr txBox="1"/>
          <p:nvPr/>
        </p:nvSpPr>
        <p:spPr>
          <a:xfrm>
            <a:off x="777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Menos de 0.5 % = excelente concordancia</a:t>
            </a:r>
            <a:endParaRPr lang="en-US" sz="1400" dirty="0"/>
          </a:p>
        </p:txBody>
      </p:sp>
      <p:sp>
        <p:nvSpPr>
          <p:cNvPr id="9" name="tarjeta_413"/>
          <p:cNvSpPr/>
          <p:nvPr/>
        </p:nvSpPr>
        <p:spPr>
          <a:xfrm>
            <a:off x="6217920" y="3840480"/>
            <a:ext cx="5394960" cy="1737360"/>
          </a:xfrm>
          <a:prstGeom prst="roundRect">
            <a:avLst>
              <a:gd name="adj" fmla="val 6316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texto_414"/>
          <p:cNvSpPr txBox="1"/>
          <p:nvPr/>
        </p:nvSpPr>
        <p:spPr>
          <a:xfrm>
            <a:off x="6446520" y="39776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de 4</a:t>
            </a:r>
            <a:endParaRPr lang="en-US" sz="4400" dirty="0"/>
          </a:p>
        </p:txBody>
      </p:sp>
      <p:sp>
        <p:nvSpPr>
          <p:cNvPr id="11" name="texto_415"/>
          <p:cNvSpPr txBox="1"/>
          <p:nvPr/>
        </p:nvSpPr>
        <p:spPr>
          <a:xfrm>
            <a:off x="6446520" y="47548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problemas con excelente concordancia entre el cálculo manual y el simulador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EL SIMULADOR · GRÁFICAS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Gráficas 2D y 3D del problema principal</a:t>
            </a:r>
            <a:endParaRPr lang="en-US" sz="3200" dirty="0"/>
          </a:p>
        </p:txBody>
      </p:sp>
      <p:pic>
        <p:nvPicPr>
          <p:cNvPr id="4" name="imagen_416" descr="Gráfica 2D de la región con curvas, límites y eje de rotació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486400" cy="3566160"/>
          </a:xfrm>
          <a:prstGeom prst="rect">
            <a:avLst/>
          </a:prstGeom>
        </p:spPr>
      </p:pic>
      <p:pic>
        <p:nvPicPr>
          <p:cNvPr id="5" name="imagen_417" descr="Gráfica 3D del sólido de revolución con su hueco centra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554480"/>
            <a:ext cx="4754880" cy="3566160"/>
          </a:xfrm>
          <a:prstGeom prst="rect">
            <a:avLst/>
          </a:prstGeom>
        </p:spPr>
      </p:pic>
      <p:sp>
        <p:nvSpPr>
          <p:cNvPr id="6" name="texto_418"/>
          <p:cNvSpPr txBox="1"/>
          <p:nvPr/>
        </p:nvSpPr>
        <p:spPr>
          <a:xfrm>
            <a:off x="548640" y="53035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2D: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curva superior e inferior, región sombreada, límites a y b, eje de rotación, título y ejes rotulados.</a:t>
            </a:r>
            <a:endParaRPr lang="en-US" sz="1500" dirty="0"/>
          </a:p>
        </p:txBody>
      </p:sp>
      <p:sp>
        <p:nvSpPr>
          <p:cNvPr id="7" name="texto_419"/>
          <p:cNvSpPr txBox="1"/>
          <p:nvPr/>
        </p:nvSpPr>
        <p:spPr>
          <a:xfrm>
            <a:off x="6309360" y="530352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3D: </a:t>
            </a:r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superficie exterior (azul) e interior (roja, el hueco); se rota con el ratón y tiene corte transversal.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EL SIMULADOR · EXPORTACIÓN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Los datos de las gráficas, en un archivo</a:t>
            </a:r>
            <a:endParaRPr lang="en-US" sz="3200" dirty="0"/>
          </a:p>
        </p:txBody>
      </p:sp>
      <p:sp>
        <p:nvSpPr>
          <p:cNvPr id="4" name="tarjeta_420"/>
          <p:cNvSpPr/>
          <p:nvPr/>
        </p:nvSpPr>
        <p:spPr>
          <a:xfrm>
            <a:off x="548640" y="1600200"/>
            <a:ext cx="4754880" cy="3429000"/>
          </a:xfrm>
          <a:prstGeom prst="roundRect">
            <a:avLst>
              <a:gd name="adj" fmla="val 32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formato_421"/>
          <p:cNvSpPr/>
          <p:nvPr/>
        </p:nvSpPr>
        <p:spPr>
          <a:xfrm>
            <a:off x="822960" y="1874520"/>
            <a:ext cx="11887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formato_texto_422"/>
          <p:cNvSpPr txBox="1"/>
          <p:nvPr/>
        </p:nvSpPr>
        <p:spPr>
          <a:xfrm>
            <a:off x="822960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CSV</a:t>
            </a:r>
            <a:endParaRPr lang="en-US" sz="1800" dirty="0"/>
          </a:p>
        </p:txBody>
      </p:sp>
      <p:sp>
        <p:nvSpPr>
          <p:cNvPr id="7" name="formato_423"/>
          <p:cNvSpPr/>
          <p:nvPr/>
        </p:nvSpPr>
        <p:spPr>
          <a:xfrm>
            <a:off x="2194560" y="1874520"/>
            <a:ext cx="118872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formato_texto_424"/>
          <p:cNvSpPr txBox="1"/>
          <p:nvPr/>
        </p:nvSpPr>
        <p:spPr>
          <a:xfrm>
            <a:off x="2194560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TXT</a:t>
            </a:r>
            <a:endParaRPr lang="en-US" sz="1800" dirty="0"/>
          </a:p>
        </p:txBody>
      </p:sp>
      <p:sp>
        <p:nvSpPr>
          <p:cNvPr id="9" name="formato_425"/>
          <p:cNvSpPr/>
          <p:nvPr/>
        </p:nvSpPr>
        <p:spPr>
          <a:xfrm>
            <a:off x="3566160" y="1874520"/>
            <a:ext cx="1188720" cy="54864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0" name="formato_texto_426"/>
          <p:cNvSpPr txBox="1"/>
          <p:nvPr/>
        </p:nvSpPr>
        <p:spPr>
          <a:xfrm>
            <a:off x="3566160" y="187452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PNG</a:t>
            </a:r>
            <a:endParaRPr lang="en-US" sz="1800" dirty="0"/>
          </a:p>
        </p:txBody>
      </p:sp>
      <p:sp>
        <p:nvSpPr>
          <p:cNvPr id="11" name="texto_427"/>
          <p:cNvSpPr txBox="1"/>
          <p:nvPr/>
        </p:nvSpPr>
        <p:spPr>
          <a:xfrm>
            <a:off x="822960" y="2743200"/>
            <a:ext cx="42976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Columnas: x, f(x), g(x) y V_acum(x)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151 filas con 4 decimales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CSV separado por comas, TXT por tabulaciones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Las gráficas se guardan como imágenes PNG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Archivo entregado: datos_solido.csv</a:t>
            </a:r>
            <a:endParaRPr lang="en-US" sz="1600" dirty="0"/>
          </a:p>
        </p:txBody>
      </p:sp>
      <p:graphicFrame>
        <p:nvGraphicFramePr>
          <p:cNvPr id="26" name="tabla_4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600200"/>
          <a:ext cx="5943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371600"/>
                <a:gridCol w="1828800"/>
              </a:tblGrid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x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f(x)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g(x)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</a:rPr>
                        <a:t>V_acum(x)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−1.0000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−0.5000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2.5000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1.2500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3.9728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14.0324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0.5000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3.5000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1.2500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28.8045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46.9145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1.5000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4.5000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3.2500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64.6317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2.0000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5.0000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</a:rPr>
                        <a:t>73.5133</a:t>
                      </a:r>
                      <a:endParaRPr lang="en-US" sz="15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 MAQUETA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Un motor de 5 V hace girar la región</a:t>
            </a:r>
            <a:endParaRPr lang="en-US" sz="3200" dirty="0"/>
          </a:p>
        </p:txBody>
      </p:sp>
      <p:pic>
        <p:nvPicPr>
          <p:cNvPr id="4" name="imagen_429" descr="Vista frontal del montaje: motor, varilla roja como eje X y la región R con su espej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6400800" cy="3694176"/>
          </a:xfrm>
          <a:prstGeom prst="rect">
            <a:avLst/>
          </a:prstGeom>
        </p:spPr>
      </p:pic>
      <p:sp>
        <p:nvSpPr>
          <p:cNvPr id="5" name="texto_430"/>
          <p:cNvSpPr txBox="1"/>
          <p:nvPr/>
        </p:nvSpPr>
        <p:spPr>
          <a:xfrm>
            <a:off x="7315200" y="15544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La región R y su espejo R′ (contrapeso) giran sobre una varilla roja que es el eje X. Al girar rápido, el ojo ve el sólido completo con su hueco.</a:t>
            </a:r>
            <a:endParaRPr lang="en-US" sz="1500" dirty="0"/>
          </a:p>
        </p:txBody>
      </p:sp>
      <p:graphicFrame>
        <p:nvGraphicFramePr>
          <p:cNvPr id="27" name="tabla_4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0" y="2880360"/>
          <a:ext cx="42976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Medida (1 u = 2 cm)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Maqueta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Largo, de a = −1 a b = 2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 cm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Radio exterior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 cm → 10 cm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Radio interior mínimo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 cm (x = 0)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Volumen (× 2³ = 8)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≈ 588 cm³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7" name="texto_432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Rotulada con el método, la integral, los límites a y b y el eje de rotación.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DIFICULTADES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Qué nos costó y cómo lo resolvimos</a:t>
            </a:r>
            <a:endParaRPr lang="en-US" sz="3200" dirty="0"/>
          </a:p>
        </p:txBody>
      </p:sp>
      <p:sp>
        <p:nvSpPr>
          <p:cNvPr id="4" name="tarjeta_433"/>
          <p:cNvSpPr/>
          <p:nvPr/>
        </p:nvSpPr>
        <p:spPr>
          <a:xfrm>
            <a:off x="548640" y="160020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irculo_434"/>
          <p:cNvSpPr/>
          <p:nvPr/>
        </p:nvSpPr>
        <p:spPr>
          <a:xfrm>
            <a:off x="731520" y="1755648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numero_435"/>
          <p:cNvSpPr txBox="1"/>
          <p:nvPr/>
        </p:nvSpPr>
        <p:spPr>
          <a:xfrm>
            <a:off x="731520" y="17556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o_436"/>
          <p:cNvSpPr txBox="1"/>
          <p:nvPr/>
        </p:nvSpPr>
        <p:spPr>
          <a:xfrm>
            <a:off x="1371600" y="17830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Aceptar cualquier f(x) y g(x) en la defensa</a:t>
            </a:r>
            <a:endParaRPr lang="en-US" sz="1600" dirty="0"/>
          </a:p>
        </p:txBody>
      </p:sp>
      <p:sp>
        <p:nvSpPr>
          <p:cNvPr id="8" name="flecha_437"/>
          <p:cNvSpPr/>
          <p:nvPr/>
        </p:nvSpPr>
        <p:spPr>
          <a:xfrm>
            <a:off x="6035040" y="1847088"/>
            <a:ext cx="32004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o_438"/>
          <p:cNvSpPr txBox="1"/>
          <p:nvPr/>
        </p:nvSpPr>
        <p:spPr>
          <a:xfrm>
            <a:off x="6537960" y="178308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La librería exp4j convierte el texto en una función</a:t>
            </a:r>
            <a:endParaRPr lang="en-US" sz="1500" dirty="0"/>
          </a:p>
        </p:txBody>
      </p:sp>
      <p:sp>
        <p:nvSpPr>
          <p:cNvPr id="10" name="tarjeta_439"/>
          <p:cNvSpPr/>
          <p:nvPr/>
        </p:nvSpPr>
        <p:spPr>
          <a:xfrm>
            <a:off x="548640" y="2496312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circulo_440"/>
          <p:cNvSpPr/>
          <p:nvPr/>
        </p:nvSpPr>
        <p:spPr>
          <a:xfrm>
            <a:off x="731520" y="2651760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2" name="numero_441"/>
          <p:cNvSpPr txBox="1"/>
          <p:nvPr/>
        </p:nvSpPr>
        <p:spPr>
          <a:xfrm>
            <a:off x="731520" y="26517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o_442"/>
          <p:cNvSpPr txBox="1"/>
          <p:nvPr/>
        </p:nvSpPr>
        <p:spPr>
          <a:xfrm>
            <a:off x="1371600" y="26791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Dibujar el sólido 3D desde cero</a:t>
            </a:r>
            <a:endParaRPr lang="en-US" sz="1600" dirty="0"/>
          </a:p>
        </p:txBody>
      </p:sp>
      <p:sp>
        <p:nvSpPr>
          <p:cNvPr id="14" name="flecha_443"/>
          <p:cNvSpPr/>
          <p:nvPr/>
        </p:nvSpPr>
        <p:spPr>
          <a:xfrm>
            <a:off x="6035040" y="2743200"/>
            <a:ext cx="32004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o_444"/>
          <p:cNvSpPr txBox="1"/>
          <p:nvPr/>
        </p:nvSpPr>
        <p:spPr>
          <a:xfrm>
            <a:off x="6537960" y="2679192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Malla de triángulos que gira el perfil de la región</a:t>
            </a:r>
            <a:endParaRPr lang="en-US" sz="1500" dirty="0"/>
          </a:p>
        </p:txBody>
      </p:sp>
      <p:sp>
        <p:nvSpPr>
          <p:cNvPr id="16" name="tarjeta_445"/>
          <p:cNvSpPr/>
          <p:nvPr/>
        </p:nvSpPr>
        <p:spPr>
          <a:xfrm>
            <a:off x="548640" y="3392424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circulo_446"/>
          <p:cNvSpPr/>
          <p:nvPr/>
        </p:nvSpPr>
        <p:spPr>
          <a:xfrm>
            <a:off x="731520" y="3547872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8" name="numero_447"/>
          <p:cNvSpPr txBox="1"/>
          <p:nvPr/>
        </p:nvSpPr>
        <p:spPr>
          <a:xfrm>
            <a:off x="731520" y="35478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o_448"/>
          <p:cNvSpPr txBox="1"/>
          <p:nvPr/>
        </p:nvSpPr>
        <p:spPr>
          <a:xfrm>
            <a:off x="1371600" y="3575304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Que el programa abra sin instalar Java</a:t>
            </a:r>
            <a:endParaRPr lang="en-US" sz="1600" dirty="0"/>
          </a:p>
        </p:txBody>
      </p:sp>
      <p:sp>
        <p:nvSpPr>
          <p:cNvPr id="20" name="flecha_449"/>
          <p:cNvSpPr/>
          <p:nvPr/>
        </p:nvSpPr>
        <p:spPr>
          <a:xfrm>
            <a:off x="6035040" y="3639312"/>
            <a:ext cx="32004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o_450"/>
          <p:cNvSpPr txBox="1"/>
          <p:nvPr/>
        </p:nvSpPr>
        <p:spPr>
          <a:xfrm>
            <a:off x="6537960" y="3575304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Ejecutable .exe generado con jpackage</a:t>
            </a:r>
            <a:endParaRPr lang="en-US" sz="1500" dirty="0"/>
          </a:p>
        </p:txBody>
      </p:sp>
      <p:sp>
        <p:nvSpPr>
          <p:cNvPr id="22" name="tarjeta_451"/>
          <p:cNvSpPr/>
          <p:nvPr/>
        </p:nvSpPr>
        <p:spPr>
          <a:xfrm>
            <a:off x="548640" y="4288536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circulo_452"/>
          <p:cNvSpPr/>
          <p:nvPr/>
        </p:nvSpPr>
        <p:spPr>
          <a:xfrm>
            <a:off x="731520" y="4443984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4" name="numero_453"/>
          <p:cNvSpPr txBox="1"/>
          <p:nvPr/>
        </p:nvSpPr>
        <p:spPr>
          <a:xfrm>
            <a:off x="73152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o_454"/>
          <p:cNvSpPr txBox="1"/>
          <p:nvPr/>
        </p:nvSpPr>
        <p:spPr>
          <a:xfrm>
            <a:off x="1371600" y="4471416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La maqueta vibraba al girar</a:t>
            </a:r>
            <a:endParaRPr lang="en-US" sz="1600" dirty="0"/>
          </a:p>
        </p:txBody>
      </p:sp>
      <p:sp>
        <p:nvSpPr>
          <p:cNvPr id="26" name="flecha_455"/>
          <p:cNvSpPr/>
          <p:nvPr/>
        </p:nvSpPr>
        <p:spPr>
          <a:xfrm>
            <a:off x="6035040" y="4535424"/>
            <a:ext cx="32004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7" name="texto_456"/>
          <p:cNvSpPr txBox="1"/>
          <p:nvPr/>
        </p:nvSpPr>
        <p:spPr>
          <a:xfrm>
            <a:off x="6537960" y="4471416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Contrapeso con la región espejo y región centrada en la varilla</a:t>
            </a:r>
            <a:endParaRPr lang="en-US" sz="1500" dirty="0"/>
          </a:p>
        </p:txBody>
      </p:sp>
      <p:sp>
        <p:nvSpPr>
          <p:cNvPr id="28" name="tarjeta_457"/>
          <p:cNvSpPr/>
          <p:nvPr/>
        </p:nvSpPr>
        <p:spPr>
          <a:xfrm>
            <a:off x="548640" y="5184648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9" name="circulo_458"/>
          <p:cNvSpPr/>
          <p:nvPr/>
        </p:nvSpPr>
        <p:spPr>
          <a:xfrm>
            <a:off x="731520" y="5340096"/>
            <a:ext cx="420624" cy="42062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0" name="numero_459"/>
          <p:cNvSpPr txBox="1"/>
          <p:nvPr/>
        </p:nvSpPr>
        <p:spPr>
          <a:xfrm>
            <a:off x="731520" y="5340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o_460"/>
          <p:cNvSpPr txBox="1"/>
          <p:nvPr/>
        </p:nvSpPr>
        <p:spPr>
          <a:xfrm>
            <a:off x="1371600" y="536752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Un motor lento no forma el sólido</a:t>
            </a:r>
            <a:endParaRPr lang="en-US" sz="1600" dirty="0"/>
          </a:p>
        </p:txBody>
      </p:sp>
      <p:sp>
        <p:nvSpPr>
          <p:cNvPr id="32" name="flecha_461"/>
          <p:cNvSpPr/>
          <p:nvPr/>
        </p:nvSpPr>
        <p:spPr>
          <a:xfrm>
            <a:off x="6035040" y="5431536"/>
            <a:ext cx="320040" cy="237744"/>
          </a:xfrm>
          <a:prstGeom prst="rightArrow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3" name="texto_462"/>
          <p:cNvSpPr txBox="1"/>
          <p:nvPr/>
        </p:nvSpPr>
        <p:spPr>
          <a:xfrm>
            <a:off x="6537960" y="5367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Motor rápido de 5 V (tipo RF-300), no motorreductor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6"/>
                </a:solidFill>
              </a:rPr>
              <a:t>CONCLUSIONES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5943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Tres caminos, un mismo resultado</a:t>
            </a:r>
            <a:endParaRPr lang="en-US" sz="3200" dirty="0"/>
          </a:p>
        </p:txBody>
      </p:sp>
      <p:sp>
        <p:nvSpPr>
          <p:cNvPr id="4" name="tarjeta_463"/>
          <p:cNvSpPr/>
          <p:nvPr/>
        </p:nvSpPr>
        <p:spPr>
          <a:xfrm>
            <a:off x="548640" y="16459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1E3157"/>
          </a:solidFill>
          <a:ln w="12700">
            <a:solidFill>
              <a:srgbClr val="1E3157"/>
            </a:solidFill>
            <a:prstDash val="solid"/>
          </a:ln>
        </p:spPr>
      </p:sp>
      <p:sp>
        <p:nvSpPr>
          <p:cNvPr id="5" name="texto_464"/>
          <p:cNvSpPr txBox="1"/>
          <p:nvPr/>
        </p:nvSpPr>
        <p:spPr>
          <a:xfrm>
            <a:off x="82296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MANUAL</a:t>
            </a:r>
            <a:endParaRPr lang="en-US" sz="1300" dirty="0"/>
          </a:p>
        </p:txBody>
      </p:sp>
      <p:sp>
        <p:nvSpPr>
          <p:cNvPr id="6" name="texto_465"/>
          <p:cNvSpPr txBox="1"/>
          <p:nvPr/>
        </p:nvSpPr>
        <p:spPr>
          <a:xfrm>
            <a:off x="82296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73.51 u³</a:t>
            </a:r>
            <a:endParaRPr lang="en-US" sz="4000" dirty="0"/>
          </a:p>
        </p:txBody>
      </p:sp>
      <p:sp>
        <p:nvSpPr>
          <p:cNvPr id="7" name="texto_466"/>
          <p:cNvSpPr txBox="1"/>
          <p:nvPr/>
        </p:nvSpPr>
        <p:spPr>
          <a:xfrm>
            <a:off x="82296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V = 117π/5 por arandelas, comprobado con Pappus</a:t>
            </a:r>
            <a:endParaRPr lang="en-US" sz="1500" dirty="0"/>
          </a:p>
        </p:txBody>
      </p:sp>
      <p:sp>
        <p:nvSpPr>
          <p:cNvPr id="8" name="tarjeta_467"/>
          <p:cNvSpPr/>
          <p:nvPr/>
        </p:nvSpPr>
        <p:spPr>
          <a:xfrm>
            <a:off x="4297680" y="16459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1E3157"/>
          </a:solidFill>
          <a:ln w="12700">
            <a:solidFill>
              <a:srgbClr val="1E3157"/>
            </a:solidFill>
            <a:prstDash val="solid"/>
          </a:ln>
        </p:spPr>
      </p:sp>
      <p:sp>
        <p:nvSpPr>
          <p:cNvPr id="9" name="texto_468"/>
          <p:cNvSpPr txBox="1"/>
          <p:nvPr/>
        </p:nvSpPr>
        <p:spPr>
          <a:xfrm>
            <a:off x="457200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SIMULADOR</a:t>
            </a:r>
            <a:endParaRPr lang="en-US" sz="1300" dirty="0"/>
          </a:p>
        </p:txBody>
      </p:sp>
      <p:sp>
        <p:nvSpPr>
          <p:cNvPr id="10" name="texto_469"/>
          <p:cNvSpPr txBox="1"/>
          <p:nvPr/>
        </p:nvSpPr>
        <p:spPr>
          <a:xfrm>
            <a:off x="457200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de 4</a:t>
            </a:r>
            <a:endParaRPr lang="en-US" sz="4000" dirty="0"/>
          </a:p>
        </p:txBody>
      </p:sp>
      <p:sp>
        <p:nvSpPr>
          <p:cNvPr id="11" name="texto_470"/>
          <p:cNvSpPr txBox="1"/>
          <p:nvPr/>
        </p:nvSpPr>
        <p:spPr>
          <a:xfrm>
            <a:off x="457200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problemas iguales al cálculo manual</a:t>
            </a:r>
            <a:endParaRPr lang="en-US" sz="1500" dirty="0"/>
          </a:p>
        </p:txBody>
      </p:sp>
      <p:sp>
        <p:nvSpPr>
          <p:cNvPr id="12" name="tarjeta_471"/>
          <p:cNvSpPr/>
          <p:nvPr/>
        </p:nvSpPr>
        <p:spPr>
          <a:xfrm>
            <a:off x="8046720" y="1645920"/>
            <a:ext cx="3520440" cy="2743200"/>
          </a:xfrm>
          <a:prstGeom prst="roundRect">
            <a:avLst>
              <a:gd name="adj" fmla="val 4000"/>
            </a:avLst>
          </a:prstGeom>
          <a:solidFill>
            <a:srgbClr val="1E3157"/>
          </a:solidFill>
          <a:ln w="12700">
            <a:solidFill>
              <a:srgbClr val="1E3157"/>
            </a:solidFill>
            <a:prstDash val="solid"/>
          </a:ln>
        </p:spPr>
      </p:sp>
      <p:sp>
        <p:nvSpPr>
          <p:cNvPr id="13" name="texto_472"/>
          <p:cNvSpPr txBox="1"/>
          <p:nvPr/>
        </p:nvSpPr>
        <p:spPr>
          <a:xfrm>
            <a:off x="8321040" y="1874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chemeClr val="accent6"/>
                </a:solidFill>
              </a:rPr>
              <a:t>MAQUETA</a:t>
            </a:r>
            <a:endParaRPr lang="en-US" sz="1300" dirty="0"/>
          </a:p>
        </p:txBody>
      </p:sp>
      <p:sp>
        <p:nvSpPr>
          <p:cNvPr id="14" name="texto_473"/>
          <p:cNvSpPr txBox="1"/>
          <p:nvPr/>
        </p:nvSpPr>
        <p:spPr>
          <a:xfrm>
            <a:off x="8321040" y="233172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588 cm³</a:t>
            </a:r>
            <a:endParaRPr lang="en-US" sz="4000" dirty="0"/>
          </a:p>
        </p:txBody>
      </p:sp>
      <p:sp>
        <p:nvSpPr>
          <p:cNvPr id="15" name="texto_474"/>
          <p:cNvSpPr txBox="1"/>
          <p:nvPr/>
        </p:nvSpPr>
        <p:spPr>
          <a:xfrm>
            <a:off x="8321040" y="32918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el mismo sólido a escala 1 u = 2 cm</a:t>
            </a:r>
            <a:endParaRPr lang="en-US" sz="1500" dirty="0"/>
          </a:p>
        </p:txBody>
      </p:sp>
      <p:sp>
        <p:nvSpPr>
          <p:cNvPr id="16" name="texto_475"/>
          <p:cNvSpPr txBox="1"/>
          <p:nvPr/>
        </p:nvSpPr>
        <p:spPr>
          <a:xfrm>
            <a:off x="548640" y="50292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· ¿Preguntas?</a:t>
            </a: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lculo II">
  <a:themeElements>
    <a:clrScheme name="Calculo II">
      <a:dk1>
        <a:srgbClr val="14213D"/>
      </a:dk1>
      <a:lt1>
        <a:srgbClr val="FFFFFF"/>
      </a:lt1>
      <a:dk2>
        <a:srgbClr val="475569"/>
      </a:dk2>
      <a:lt2>
        <a:srgbClr val="F1F5F9"/>
      </a:lt2>
      <a:accent1>
        <a:srgbClr val="0369A1"/>
      </a:accent1>
      <a:accent2>
        <a:srgbClr val="BE123C"/>
      </a:accent2>
      <a:accent3>
        <a:srgbClr val="B45309"/>
      </a:accent3>
      <a:accent4>
        <a:srgbClr val="7C3AED"/>
      </a:accent4>
      <a:accent5>
        <a:srgbClr val="0F766E"/>
      </a:accent5>
      <a:accent6>
        <a:srgbClr val="7DD3FC"/>
      </a:accent6>
      <a:hlink>
        <a:srgbClr val="0369A1"/>
      </a:hlink>
      <a:folHlink>
        <a:srgbClr val="7C3AED"/>
      </a:folHlink>
    </a:clrScheme>
    <a:fontScheme name="Calculo II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Emulador de Volúmenes de Sólidos de Revolución</dc:title>
  <dc:subject>PptxGenJS Presentation</dc:subject>
  <dc:creator>Proyecto Cálculo II</dc:creator>
  <cp:lastModifiedBy>Proyecto Cálculo II</cp:lastModifiedBy>
  <cp:revision>1</cp:revision>
  <dcterms:created xsi:type="dcterms:W3CDTF">2026-10-22T15:52:32Z</dcterms:created>
  <dcterms:modified xsi:type="dcterms:W3CDTF">2026-10-22T15:52:32Z</dcterms:modified>
</cp:coreProperties>
</file>